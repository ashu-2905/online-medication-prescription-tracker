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56" r:id="rId2"/>
    <p:sldId id="267" r:id="rId3"/>
    <p:sldId id="260" r:id="rId4"/>
    <p:sldId id="262" r:id="rId5"/>
    <p:sldId id="275" r:id="rId6"/>
    <p:sldId id="261" r:id="rId7"/>
    <p:sldId id="263" r:id="rId8"/>
    <p:sldId id="257" r:id="rId9"/>
    <p:sldId id="259" r:id="rId10"/>
    <p:sldId id="264" r:id="rId11"/>
    <p:sldId id="269" r:id="rId12"/>
    <p:sldId id="270" r:id="rId13"/>
    <p:sldId id="273" r:id="rId14"/>
    <p:sldId id="265" r:id="rId15"/>
    <p:sldId id="274" r:id="rId16"/>
    <p:sldId id="266" r:id="rId17"/>
    <p:sldId id="271" r:id="rId18"/>
    <p:sldId id="268" r:id="rId19"/>
  </p:sldIdLst>
  <p:sldSz cx="14630400" cy="8229600"/>
  <p:notesSz cx="8229600" cy="14630400"/>
  <p:embeddedFontLst>
    <p:embeddedFont>
      <p:font typeface="Nunito Semi Bold" panose="020B0604020202020204" charset="0"/>
      <p:regular r:id="rId21"/>
    </p:embeddedFont>
    <p:embeddedFont>
      <p:font typeface="PT Sans" panose="020B0503020203020204" pitchFamily="34"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D4DF2"/>
    <a:srgbClr val="FEFEFE"/>
    <a:srgbClr val="FEFDFE"/>
    <a:srgbClr val="F3F3FF"/>
    <a:srgbClr val="8CD6FE"/>
    <a:srgbClr val="F9D0FC"/>
    <a:srgbClr val="6EC3F8"/>
    <a:srgbClr val="000001"/>
    <a:srgbClr val="0F03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10"/>
  </p:normalViewPr>
  <p:slideViewPr>
    <p:cSldViewPr snapToGrid="0" snapToObjects="1">
      <p:cViewPr varScale="1">
        <p:scale>
          <a:sx n="65" d="100"/>
          <a:sy n="65" d="100"/>
        </p:scale>
        <p:origin x="85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9888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F6996-054F-C3D1-6A1E-40CE1C1E3A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001D6C-24BA-678A-060E-EB697EADA6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A416D6-2052-A595-2C6A-A85FF9D277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0688C5-860A-FE3D-DA22-F2A4CE917EF8}"/>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268171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F8487-9DF6-33BE-C4A8-E5BE9DF1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93D988-225B-99B9-D2F7-D13D50937C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21DDF7-47E9-D2C9-8D3F-77DE1E260C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5164A2-9328-08F0-2FA9-ECE909CA5FBB}"/>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411675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9AD44-2F1A-92EC-2DC7-752C380354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613463-89BE-3F56-A702-A887F7E243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7C9FB6-C553-24CF-D290-F52C91E7EE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0E99A1-8A27-81D8-CEB0-EAEAC49345F9}"/>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7395748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A24F0-CFA7-283A-FE75-8B2B7DFB1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EE3E88-F400-99AA-7517-5921A41688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4E2F9C-17C6-4321-F256-9FB219FE63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82AA63-D313-ABD4-1634-578696C0269D}"/>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6783594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24399-F2D8-6A28-5D27-E130B991DE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70C968-A3F9-18CE-8926-40A551DDD6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016B98-A2DF-A57C-8CAC-481B34EFDB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2CF44B-819F-E140-9396-B98978C2F66E}"/>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4775552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25F73-E78F-7B06-AAFC-AD2FF8944C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94ADEF-82A9-D557-4FA8-8A1D962108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FD623E-5096-327F-8959-C984BB6ED8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7A4CD7-6D14-B344-B27B-D16BB6216FC2}"/>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9950239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70490-8D52-1375-CF82-63EC2C3D1A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2040BB-4A55-9E64-52B6-256C23442E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D9CFB1-B27F-F172-62EA-B0A797BCEC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D8987B-41AE-41AC-A975-AF322B77955F}"/>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607251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D0838-5D7C-8B95-8BD2-2F194724E9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F9157F-BE65-0CF8-B95A-FB61C445A6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61E994-3EB3-C8A2-E659-07F067245F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B737FE-D09E-6957-C9D6-8F1CB8D49EEF}"/>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8937214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D5557-4DB6-4BDD-D648-BD4BC04DE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1B5E8-E52A-B346-8768-D7BEAA9EA4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BB0499-03CF-371B-A568-2EB59939CF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888837-58BC-4082-E409-673B41CBA038}"/>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8510379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sv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3.xml"/><Relationship Id="rId16" Type="http://schemas.openxmlformats.org/officeDocument/2006/relationships/image" Target="../media/image21.png"/><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sv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svg"/><Relationship Id="rId9" Type="http://schemas.openxmlformats.org/officeDocument/2006/relationships/image" Target="../media/image14.png"/><Relationship Id="rId14" Type="http://schemas.openxmlformats.org/officeDocument/2006/relationships/image" Target="../media/image19.png"/></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9.xml"/><Relationship Id="rId5" Type="http://schemas.openxmlformats.org/officeDocument/2006/relationships/image" Target="../media/image29.jpe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32.svg"/><Relationship Id="rId4" Type="http://schemas.openxmlformats.org/officeDocument/2006/relationships/image" Target="../media/image31.svg"/></Relationships>
</file>

<file path=ppt/slides/_rels/slide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1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14.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14.xml"/><Relationship Id="rId1" Type="http://schemas.openxmlformats.org/officeDocument/2006/relationships/slideLayout" Target="../slideLayouts/slideLayout11.xml"/><Relationship Id="rId5" Type="http://schemas.openxmlformats.org/officeDocument/2006/relationships/image" Target="../media/image48.svg"/><Relationship Id="rId4" Type="http://schemas.openxmlformats.org/officeDocument/2006/relationships/image" Target="../media/image47.svg"/></Relationships>
</file>

<file path=ppt/slides/_rels/slide1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3510" y="0"/>
            <a:ext cx="5486400" cy="8229600"/>
          </a:xfrm>
          <a:prstGeom prst="rect">
            <a:avLst/>
          </a:prstGeom>
        </p:spPr>
      </p:pic>
      <p:sp>
        <p:nvSpPr>
          <p:cNvPr id="3" name="Text 0"/>
          <p:cNvSpPr/>
          <p:nvPr/>
        </p:nvSpPr>
        <p:spPr>
          <a:xfrm>
            <a:off x="6335937" y="1015942"/>
            <a:ext cx="7920837" cy="2012394"/>
          </a:xfrm>
          <a:prstGeom prst="rect">
            <a:avLst/>
          </a:prstGeom>
          <a:noFill/>
          <a:ln/>
        </p:spPr>
        <p:txBody>
          <a:bodyPr wrap="square" lIns="0" tIns="0" rIns="0" bIns="0" rtlCol="0" anchor="t"/>
          <a:lstStyle/>
          <a:p>
            <a:pPr marL="0" indent="0" algn="l">
              <a:lnSpc>
                <a:spcPts val="5500"/>
              </a:lnSpc>
              <a:buNone/>
            </a:pPr>
            <a:r>
              <a:rPr lang="en-US" sz="4400" dirty="0">
                <a:solidFill>
                  <a:srgbClr val="00002E"/>
                </a:solidFill>
                <a:latin typeface="Nunito Semi Bold" pitchFamily="34" charset="0"/>
                <a:ea typeface="Nunito Semi Bold" pitchFamily="34" charset="-122"/>
                <a:cs typeface="Nunito Semi Bold" pitchFamily="34" charset="-120"/>
              </a:rPr>
              <a:t>    </a:t>
            </a:r>
            <a:r>
              <a:rPr lang="en-US" sz="6000" dirty="0">
                <a:solidFill>
                  <a:srgbClr val="00002E"/>
                </a:solidFill>
                <a:latin typeface="Nunito Semi Bold" pitchFamily="34" charset="0"/>
                <a:ea typeface="Nunito Semi Bold" pitchFamily="34" charset="-122"/>
                <a:cs typeface="Nunito Semi Bold" pitchFamily="34" charset="-120"/>
              </a:rPr>
              <a:t>Online Medication</a:t>
            </a:r>
          </a:p>
          <a:p>
            <a:pPr marL="0" indent="0" algn="l">
              <a:lnSpc>
                <a:spcPts val="5500"/>
              </a:lnSpc>
              <a:buNone/>
            </a:pPr>
            <a:r>
              <a:rPr lang="en-US" sz="6000" dirty="0">
                <a:solidFill>
                  <a:srgbClr val="00002E"/>
                </a:solidFill>
                <a:latin typeface="Nunito Semi Bold" pitchFamily="34" charset="0"/>
                <a:ea typeface="Nunito Semi Bold" pitchFamily="34" charset="-122"/>
                <a:cs typeface="Nunito Semi Bold" pitchFamily="34" charset="-120"/>
              </a:rPr>
              <a:t> &amp; Prescription Tracker</a:t>
            </a:r>
            <a:endParaRPr lang="en-US" sz="6000" dirty="0"/>
          </a:p>
        </p:txBody>
      </p:sp>
      <p:sp>
        <p:nvSpPr>
          <p:cNvPr id="4" name="Text 1"/>
          <p:cNvSpPr/>
          <p:nvPr/>
        </p:nvSpPr>
        <p:spPr>
          <a:xfrm>
            <a:off x="6638756" y="5470626"/>
            <a:ext cx="7618018" cy="766048"/>
          </a:xfrm>
          <a:prstGeom prst="rect">
            <a:avLst/>
          </a:prstGeom>
          <a:noFill/>
          <a:ln/>
        </p:spPr>
        <p:txBody>
          <a:bodyPr wrap="square" lIns="0" tIns="0" rIns="0" bIns="0" rtlCol="0" anchor="t"/>
          <a:lstStyle/>
          <a:p>
            <a:pPr marL="0" indent="0" algn="l">
              <a:lnSpc>
                <a:spcPts val="3000"/>
              </a:lnSpc>
              <a:buNone/>
            </a:pPr>
            <a:r>
              <a:rPr lang="en-US" sz="1850" dirty="0">
                <a:solidFill>
                  <a:srgbClr val="00002E"/>
                </a:solidFill>
                <a:latin typeface="PT Sans" pitchFamily="34" charset="0"/>
                <a:ea typeface="PT Sans" pitchFamily="34" charset="-122"/>
                <a:cs typeface="PT Sans" pitchFamily="34" charset="-120"/>
              </a:rPr>
              <a:t>A secure, full-stack solution connecting patients, doctors, and healthcare administrators through intelligent medication management.</a:t>
            </a:r>
            <a:endParaRPr lang="en-US" sz="1850" dirty="0"/>
          </a:p>
        </p:txBody>
      </p:sp>
      <p:sp>
        <p:nvSpPr>
          <p:cNvPr id="7" name="Rectangle 6">
            <a:extLst>
              <a:ext uri="{FF2B5EF4-FFF2-40B4-BE49-F238E27FC236}">
                <a16:creationId xmlns:a16="http://schemas.microsoft.com/office/drawing/2014/main" id="{2EB01DC1-D398-B850-3BB6-FCB8A3806E84}"/>
              </a:ext>
            </a:extLst>
          </p:cNvPr>
          <p:cNvSpPr/>
          <p:nvPr/>
        </p:nvSpPr>
        <p:spPr>
          <a:xfrm>
            <a:off x="12906375" y="7590829"/>
            <a:ext cx="1600200" cy="533995"/>
          </a:xfrm>
          <a:prstGeom prst="rect">
            <a:avLst/>
          </a:prstGeom>
          <a:solidFill>
            <a:srgbClr val="F3F3FF"/>
          </a:solidFill>
          <a:ln>
            <a:solidFill>
              <a:srgbClr val="F3F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030" name="Picture 6">
            <a:extLst>
              <a:ext uri="{FF2B5EF4-FFF2-40B4-BE49-F238E27FC236}">
                <a16:creationId xmlns:a16="http://schemas.microsoft.com/office/drawing/2014/main" id="{7FA6B75E-6C80-B3FE-5AAC-F715A240AB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1970" y="3729777"/>
            <a:ext cx="871163" cy="871163"/>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DA992CBC-CD6F-7B40-F533-C283272AE2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06727" y="3739302"/>
            <a:ext cx="871163" cy="871163"/>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C040D2C3-91B7-277C-0E12-FE4ED5F7597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47765" y="3729039"/>
            <a:ext cx="871163" cy="8711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CA93B4AD-64EF-B506-09C9-0E6C66E340F0}"/>
              </a:ext>
            </a:extLst>
          </p:cNvPr>
          <p:cNvSpPr/>
          <p:nvPr/>
        </p:nvSpPr>
        <p:spPr>
          <a:xfrm>
            <a:off x="-1" y="0"/>
            <a:ext cx="5652765" cy="8239125"/>
          </a:xfrm>
          <a:prstGeom prst="rect">
            <a:avLst/>
          </a:prstGeom>
          <a:solidFill>
            <a:srgbClr val="8CD6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p:txBody>
      </p:sp>
      <p:pic>
        <p:nvPicPr>
          <p:cNvPr id="12" name="Picture 2">
            <a:extLst>
              <a:ext uri="{FF2B5EF4-FFF2-40B4-BE49-F238E27FC236}">
                <a16:creationId xmlns:a16="http://schemas.microsoft.com/office/drawing/2014/main" id="{F3308D4C-166A-354A-ED52-8C9FB98D75A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044" y="1713510"/>
            <a:ext cx="5345326" cy="37571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E3B2A-418D-32A6-433A-F19DF7B633A3}"/>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1A4E468C-54A0-7EF0-13C1-8EA293B1AA81}"/>
              </a:ext>
            </a:extLst>
          </p:cNvPr>
          <p:cNvSpPr/>
          <p:nvPr/>
        </p:nvSpPr>
        <p:spPr>
          <a:xfrm>
            <a:off x="8565965" y="-14134"/>
            <a:ext cx="6108289" cy="8243734"/>
          </a:xfrm>
          <a:prstGeom prst="rect">
            <a:avLst/>
          </a:prstGeom>
          <a:solidFill>
            <a:srgbClr val="8CD6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p:txBody>
      </p:sp>
      <p:sp>
        <p:nvSpPr>
          <p:cNvPr id="30" name="Rectangle 29">
            <a:extLst>
              <a:ext uri="{FF2B5EF4-FFF2-40B4-BE49-F238E27FC236}">
                <a16:creationId xmlns:a16="http://schemas.microsoft.com/office/drawing/2014/main" id="{E0433E32-CD74-C2DB-CD4F-421FD7380D81}"/>
              </a:ext>
            </a:extLst>
          </p:cNvPr>
          <p:cNvSpPr/>
          <p:nvPr/>
        </p:nvSpPr>
        <p:spPr>
          <a:xfrm>
            <a:off x="0" y="0"/>
            <a:ext cx="8565965" cy="8243734"/>
          </a:xfrm>
          <a:prstGeom prst="rect">
            <a:avLst/>
          </a:prstGeom>
          <a:solidFill>
            <a:srgbClr val="FEFE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p:txBody>
      </p:sp>
      <p:sp>
        <p:nvSpPr>
          <p:cNvPr id="3" name="TextBox 2">
            <a:extLst>
              <a:ext uri="{FF2B5EF4-FFF2-40B4-BE49-F238E27FC236}">
                <a16:creationId xmlns:a16="http://schemas.microsoft.com/office/drawing/2014/main" id="{8775D373-26C3-D15B-4DE6-D6964CB6589A}"/>
              </a:ext>
            </a:extLst>
          </p:cNvPr>
          <p:cNvSpPr txBox="1"/>
          <p:nvPr/>
        </p:nvSpPr>
        <p:spPr>
          <a:xfrm>
            <a:off x="2140348" y="1146412"/>
            <a:ext cx="3924088" cy="584775"/>
          </a:xfrm>
          <a:prstGeom prst="rect">
            <a:avLst/>
          </a:prstGeom>
          <a:noFill/>
        </p:spPr>
        <p:txBody>
          <a:bodyPr wrap="none" rtlCol="0">
            <a:spAutoFit/>
          </a:bodyPr>
          <a:lstStyle/>
          <a:p>
            <a:r>
              <a:rPr lang="en-IN" sz="3200" b="1" dirty="0"/>
              <a:t>Team Members Name</a:t>
            </a:r>
          </a:p>
        </p:txBody>
      </p:sp>
      <p:sp>
        <p:nvSpPr>
          <p:cNvPr id="4" name="TextBox 3">
            <a:extLst>
              <a:ext uri="{FF2B5EF4-FFF2-40B4-BE49-F238E27FC236}">
                <a16:creationId xmlns:a16="http://schemas.microsoft.com/office/drawing/2014/main" id="{0691CBB3-6DBA-8E6A-6ACD-13CF24C943CA}"/>
              </a:ext>
            </a:extLst>
          </p:cNvPr>
          <p:cNvSpPr txBox="1"/>
          <p:nvPr/>
        </p:nvSpPr>
        <p:spPr>
          <a:xfrm>
            <a:off x="2504712" y="3393733"/>
            <a:ext cx="651140" cy="369332"/>
          </a:xfrm>
          <a:prstGeom prst="rect">
            <a:avLst/>
          </a:prstGeom>
          <a:noFill/>
        </p:spPr>
        <p:txBody>
          <a:bodyPr wrap="none" rtlCol="0">
            <a:spAutoFit/>
          </a:bodyPr>
          <a:lstStyle/>
          <a:p>
            <a:r>
              <a:rPr lang="en-IN" dirty="0"/>
              <a:t>Ashu</a:t>
            </a:r>
          </a:p>
        </p:txBody>
      </p:sp>
      <p:sp>
        <p:nvSpPr>
          <p:cNvPr id="5" name="TextBox 4">
            <a:extLst>
              <a:ext uri="{FF2B5EF4-FFF2-40B4-BE49-F238E27FC236}">
                <a16:creationId xmlns:a16="http://schemas.microsoft.com/office/drawing/2014/main" id="{287E1809-89B8-C93B-FF2D-087CFA6847DD}"/>
              </a:ext>
            </a:extLst>
          </p:cNvPr>
          <p:cNvSpPr txBox="1"/>
          <p:nvPr/>
        </p:nvSpPr>
        <p:spPr>
          <a:xfrm>
            <a:off x="2064399" y="3923067"/>
            <a:ext cx="1531766" cy="369332"/>
          </a:xfrm>
          <a:prstGeom prst="rect">
            <a:avLst/>
          </a:prstGeom>
          <a:noFill/>
        </p:spPr>
        <p:txBody>
          <a:bodyPr wrap="none" rtlCol="0">
            <a:spAutoFit/>
          </a:bodyPr>
          <a:lstStyle/>
          <a:p>
            <a:r>
              <a:rPr lang="en-IN" dirty="0"/>
              <a:t>Revathi </a:t>
            </a:r>
            <a:r>
              <a:rPr lang="en-IN" dirty="0" err="1"/>
              <a:t>Baraju</a:t>
            </a:r>
            <a:endParaRPr lang="en-IN" dirty="0"/>
          </a:p>
        </p:txBody>
      </p:sp>
      <p:sp>
        <p:nvSpPr>
          <p:cNvPr id="6" name="TextBox 5">
            <a:extLst>
              <a:ext uri="{FF2B5EF4-FFF2-40B4-BE49-F238E27FC236}">
                <a16:creationId xmlns:a16="http://schemas.microsoft.com/office/drawing/2014/main" id="{F909C47E-D948-8AB6-23E3-992AA3FA20CD}"/>
              </a:ext>
            </a:extLst>
          </p:cNvPr>
          <p:cNvSpPr txBox="1"/>
          <p:nvPr/>
        </p:nvSpPr>
        <p:spPr>
          <a:xfrm>
            <a:off x="4398930" y="4541695"/>
            <a:ext cx="1985159" cy="369332"/>
          </a:xfrm>
          <a:prstGeom prst="rect">
            <a:avLst/>
          </a:prstGeom>
          <a:noFill/>
        </p:spPr>
        <p:txBody>
          <a:bodyPr wrap="none" rtlCol="0">
            <a:spAutoFit/>
          </a:bodyPr>
          <a:lstStyle/>
          <a:p>
            <a:r>
              <a:rPr lang="en-IN" dirty="0"/>
              <a:t>Ravella </a:t>
            </a:r>
            <a:r>
              <a:rPr lang="en-IN" dirty="0" err="1"/>
              <a:t>Neeharikha</a:t>
            </a:r>
            <a:endParaRPr lang="en-IN" dirty="0"/>
          </a:p>
        </p:txBody>
      </p:sp>
      <p:sp>
        <p:nvSpPr>
          <p:cNvPr id="7" name="TextBox 6">
            <a:extLst>
              <a:ext uri="{FF2B5EF4-FFF2-40B4-BE49-F238E27FC236}">
                <a16:creationId xmlns:a16="http://schemas.microsoft.com/office/drawing/2014/main" id="{380E05CB-5DF2-E029-EEB3-78BA6F49E3C6}"/>
              </a:ext>
            </a:extLst>
          </p:cNvPr>
          <p:cNvSpPr txBox="1"/>
          <p:nvPr/>
        </p:nvSpPr>
        <p:spPr>
          <a:xfrm>
            <a:off x="4524588" y="3910582"/>
            <a:ext cx="1828193" cy="369332"/>
          </a:xfrm>
          <a:prstGeom prst="rect">
            <a:avLst/>
          </a:prstGeom>
          <a:noFill/>
        </p:spPr>
        <p:txBody>
          <a:bodyPr wrap="none" rtlCol="0">
            <a:spAutoFit/>
          </a:bodyPr>
          <a:lstStyle/>
          <a:p>
            <a:r>
              <a:rPr lang="en-IN" dirty="0" err="1"/>
              <a:t>Manswi</a:t>
            </a:r>
            <a:r>
              <a:rPr lang="en-IN" dirty="0"/>
              <a:t> Badgujar</a:t>
            </a:r>
          </a:p>
        </p:txBody>
      </p:sp>
      <p:sp>
        <p:nvSpPr>
          <p:cNvPr id="9" name="TextBox 8">
            <a:extLst>
              <a:ext uri="{FF2B5EF4-FFF2-40B4-BE49-F238E27FC236}">
                <a16:creationId xmlns:a16="http://schemas.microsoft.com/office/drawing/2014/main" id="{83A011C4-5B31-1046-643F-6AD23ED594DA}"/>
              </a:ext>
            </a:extLst>
          </p:cNvPr>
          <p:cNvSpPr txBox="1"/>
          <p:nvPr/>
        </p:nvSpPr>
        <p:spPr>
          <a:xfrm>
            <a:off x="4797002" y="3332835"/>
            <a:ext cx="1306576" cy="369332"/>
          </a:xfrm>
          <a:prstGeom prst="rect">
            <a:avLst/>
          </a:prstGeom>
          <a:noFill/>
        </p:spPr>
        <p:txBody>
          <a:bodyPr wrap="none" rtlCol="0">
            <a:spAutoFit/>
          </a:bodyPr>
          <a:lstStyle/>
          <a:p>
            <a:r>
              <a:rPr lang="en-IN" dirty="0"/>
              <a:t>Archana T V</a:t>
            </a:r>
          </a:p>
        </p:txBody>
      </p:sp>
      <p:sp>
        <p:nvSpPr>
          <p:cNvPr id="27" name="TextBox 26">
            <a:extLst>
              <a:ext uri="{FF2B5EF4-FFF2-40B4-BE49-F238E27FC236}">
                <a16:creationId xmlns:a16="http://schemas.microsoft.com/office/drawing/2014/main" id="{4181EC97-55AE-A024-CEC9-33A978D7E3F1}"/>
              </a:ext>
            </a:extLst>
          </p:cNvPr>
          <p:cNvSpPr txBox="1"/>
          <p:nvPr/>
        </p:nvSpPr>
        <p:spPr>
          <a:xfrm>
            <a:off x="4458591" y="2839735"/>
            <a:ext cx="2177776" cy="369332"/>
          </a:xfrm>
          <a:prstGeom prst="rect">
            <a:avLst/>
          </a:prstGeom>
          <a:noFill/>
        </p:spPr>
        <p:txBody>
          <a:bodyPr wrap="none" rtlCol="0">
            <a:spAutoFit/>
          </a:bodyPr>
          <a:lstStyle/>
          <a:p>
            <a:r>
              <a:rPr lang="en-IN" b="1" dirty="0"/>
              <a:t>Frontend Developers</a:t>
            </a:r>
          </a:p>
        </p:txBody>
      </p:sp>
      <p:sp>
        <p:nvSpPr>
          <p:cNvPr id="28" name="TextBox 27">
            <a:extLst>
              <a:ext uri="{FF2B5EF4-FFF2-40B4-BE49-F238E27FC236}">
                <a16:creationId xmlns:a16="http://schemas.microsoft.com/office/drawing/2014/main" id="{EE24CFB6-934F-BD76-1A05-B1A5D0746595}"/>
              </a:ext>
            </a:extLst>
          </p:cNvPr>
          <p:cNvSpPr txBox="1"/>
          <p:nvPr/>
        </p:nvSpPr>
        <p:spPr>
          <a:xfrm>
            <a:off x="1748317" y="2798802"/>
            <a:ext cx="2115131" cy="369332"/>
          </a:xfrm>
          <a:prstGeom prst="rect">
            <a:avLst/>
          </a:prstGeom>
          <a:noFill/>
        </p:spPr>
        <p:txBody>
          <a:bodyPr wrap="none" rtlCol="0">
            <a:spAutoFit/>
          </a:bodyPr>
          <a:lstStyle/>
          <a:p>
            <a:r>
              <a:rPr lang="en-IN" b="1" dirty="0"/>
              <a:t>Backend Developers</a:t>
            </a:r>
          </a:p>
        </p:txBody>
      </p:sp>
      <p:sp>
        <p:nvSpPr>
          <p:cNvPr id="31" name="TextBox 30">
            <a:extLst>
              <a:ext uri="{FF2B5EF4-FFF2-40B4-BE49-F238E27FC236}">
                <a16:creationId xmlns:a16="http://schemas.microsoft.com/office/drawing/2014/main" id="{95C0C6AC-5D77-185F-0A5F-AF79D6315BE3}"/>
              </a:ext>
            </a:extLst>
          </p:cNvPr>
          <p:cNvSpPr txBox="1"/>
          <p:nvPr/>
        </p:nvSpPr>
        <p:spPr>
          <a:xfrm>
            <a:off x="9483686" y="1405891"/>
            <a:ext cx="2341347" cy="400110"/>
          </a:xfrm>
          <a:prstGeom prst="rect">
            <a:avLst/>
          </a:prstGeom>
          <a:noFill/>
        </p:spPr>
        <p:txBody>
          <a:bodyPr wrap="none" rtlCol="0">
            <a:spAutoFit/>
          </a:bodyPr>
          <a:lstStyle/>
          <a:p>
            <a:r>
              <a:rPr lang="en-IN" sz="2000" b="1" dirty="0"/>
              <a:t>Backend Developers</a:t>
            </a:r>
          </a:p>
        </p:txBody>
      </p:sp>
      <p:sp>
        <p:nvSpPr>
          <p:cNvPr id="32" name="TextBox 31">
            <a:extLst>
              <a:ext uri="{FF2B5EF4-FFF2-40B4-BE49-F238E27FC236}">
                <a16:creationId xmlns:a16="http://schemas.microsoft.com/office/drawing/2014/main" id="{8C36A2A5-EE3A-8F6C-7E1A-5DCF17AA8B87}"/>
              </a:ext>
            </a:extLst>
          </p:cNvPr>
          <p:cNvSpPr txBox="1"/>
          <p:nvPr/>
        </p:nvSpPr>
        <p:spPr>
          <a:xfrm>
            <a:off x="9483686" y="1889771"/>
            <a:ext cx="1869743" cy="400110"/>
          </a:xfrm>
          <a:prstGeom prst="rect">
            <a:avLst/>
          </a:prstGeom>
          <a:noFill/>
        </p:spPr>
        <p:txBody>
          <a:bodyPr wrap="none" rtlCol="0">
            <a:spAutoFit/>
          </a:bodyPr>
          <a:lstStyle/>
          <a:p>
            <a:r>
              <a:rPr lang="en-IN" sz="2000" dirty="0"/>
              <a:t>Responsibilities:</a:t>
            </a:r>
          </a:p>
        </p:txBody>
      </p:sp>
      <p:sp>
        <p:nvSpPr>
          <p:cNvPr id="33" name="TextBox 32">
            <a:extLst>
              <a:ext uri="{FF2B5EF4-FFF2-40B4-BE49-F238E27FC236}">
                <a16:creationId xmlns:a16="http://schemas.microsoft.com/office/drawing/2014/main" id="{9AF0A479-73AA-94A7-584F-3D0B571B9030}"/>
              </a:ext>
            </a:extLst>
          </p:cNvPr>
          <p:cNvSpPr txBox="1"/>
          <p:nvPr/>
        </p:nvSpPr>
        <p:spPr>
          <a:xfrm>
            <a:off x="9483686" y="2367458"/>
            <a:ext cx="3840282" cy="369332"/>
          </a:xfrm>
          <a:prstGeom prst="rect">
            <a:avLst/>
          </a:prstGeom>
          <a:noFill/>
        </p:spPr>
        <p:txBody>
          <a:bodyPr wrap="none" rtlCol="0">
            <a:spAutoFit/>
          </a:bodyPr>
          <a:lstStyle/>
          <a:p>
            <a:r>
              <a:rPr lang="en-US" dirty="0"/>
              <a:t>Developed REST APIs using Spring Boot</a:t>
            </a:r>
            <a:endParaRPr lang="en-IN" dirty="0"/>
          </a:p>
        </p:txBody>
      </p:sp>
      <p:sp>
        <p:nvSpPr>
          <p:cNvPr id="37" name="TextBox 36">
            <a:extLst>
              <a:ext uri="{FF2B5EF4-FFF2-40B4-BE49-F238E27FC236}">
                <a16:creationId xmlns:a16="http://schemas.microsoft.com/office/drawing/2014/main" id="{7C67F504-F33C-1BDE-4902-A57D20D75418}"/>
              </a:ext>
            </a:extLst>
          </p:cNvPr>
          <p:cNvSpPr txBox="1"/>
          <p:nvPr/>
        </p:nvSpPr>
        <p:spPr>
          <a:xfrm>
            <a:off x="9483686" y="2703118"/>
            <a:ext cx="4595425" cy="646331"/>
          </a:xfrm>
          <a:prstGeom prst="rect">
            <a:avLst/>
          </a:prstGeom>
          <a:noFill/>
        </p:spPr>
        <p:txBody>
          <a:bodyPr wrap="square" rtlCol="0">
            <a:spAutoFit/>
          </a:bodyPr>
          <a:lstStyle/>
          <a:p>
            <a:r>
              <a:rPr lang="en-US" dirty="0"/>
              <a:t>Managed database integration using MongoDB</a:t>
            </a:r>
          </a:p>
          <a:p>
            <a:endParaRPr lang="en-IN" dirty="0"/>
          </a:p>
        </p:txBody>
      </p:sp>
      <p:sp>
        <p:nvSpPr>
          <p:cNvPr id="38" name="TextBox 37">
            <a:extLst>
              <a:ext uri="{FF2B5EF4-FFF2-40B4-BE49-F238E27FC236}">
                <a16:creationId xmlns:a16="http://schemas.microsoft.com/office/drawing/2014/main" id="{E76AB187-0E83-945F-4A0C-EC7758D9D17A}"/>
              </a:ext>
            </a:extLst>
          </p:cNvPr>
          <p:cNvSpPr txBox="1"/>
          <p:nvPr/>
        </p:nvSpPr>
        <p:spPr>
          <a:xfrm>
            <a:off x="9546518" y="4501379"/>
            <a:ext cx="2177776" cy="369332"/>
          </a:xfrm>
          <a:prstGeom prst="rect">
            <a:avLst/>
          </a:prstGeom>
          <a:noFill/>
        </p:spPr>
        <p:txBody>
          <a:bodyPr wrap="none" rtlCol="0">
            <a:spAutoFit/>
          </a:bodyPr>
          <a:lstStyle/>
          <a:p>
            <a:r>
              <a:rPr lang="en-IN" b="1" dirty="0"/>
              <a:t>Frontend Developers</a:t>
            </a:r>
          </a:p>
        </p:txBody>
      </p:sp>
      <p:sp>
        <p:nvSpPr>
          <p:cNvPr id="39" name="TextBox 38">
            <a:extLst>
              <a:ext uri="{FF2B5EF4-FFF2-40B4-BE49-F238E27FC236}">
                <a16:creationId xmlns:a16="http://schemas.microsoft.com/office/drawing/2014/main" id="{D56026FB-1D5E-93B0-2FC3-E37481562898}"/>
              </a:ext>
            </a:extLst>
          </p:cNvPr>
          <p:cNvSpPr txBox="1"/>
          <p:nvPr/>
        </p:nvSpPr>
        <p:spPr>
          <a:xfrm>
            <a:off x="9546518" y="4913425"/>
            <a:ext cx="1863331" cy="400110"/>
          </a:xfrm>
          <a:prstGeom prst="rect">
            <a:avLst/>
          </a:prstGeom>
          <a:noFill/>
        </p:spPr>
        <p:txBody>
          <a:bodyPr wrap="none" rtlCol="0">
            <a:spAutoFit/>
          </a:bodyPr>
          <a:lstStyle/>
          <a:p>
            <a:r>
              <a:rPr lang="en-IN" sz="2000" dirty="0"/>
              <a:t>Responsibilities</a:t>
            </a:r>
            <a:r>
              <a:rPr lang="en-IN" dirty="0"/>
              <a:t>:</a:t>
            </a:r>
          </a:p>
        </p:txBody>
      </p:sp>
      <p:sp>
        <p:nvSpPr>
          <p:cNvPr id="40" name="TextBox 39">
            <a:extLst>
              <a:ext uri="{FF2B5EF4-FFF2-40B4-BE49-F238E27FC236}">
                <a16:creationId xmlns:a16="http://schemas.microsoft.com/office/drawing/2014/main" id="{79FAF27F-0EC3-B1B2-7425-FAFE9432DDD7}"/>
              </a:ext>
            </a:extLst>
          </p:cNvPr>
          <p:cNvSpPr txBox="1"/>
          <p:nvPr/>
        </p:nvSpPr>
        <p:spPr>
          <a:xfrm>
            <a:off x="9546518" y="5296480"/>
            <a:ext cx="4283032" cy="923330"/>
          </a:xfrm>
          <a:prstGeom prst="rect">
            <a:avLst/>
          </a:prstGeom>
          <a:noFill/>
        </p:spPr>
        <p:txBody>
          <a:bodyPr wrap="none" rtlCol="0">
            <a:spAutoFit/>
          </a:bodyPr>
          <a:lstStyle/>
          <a:p>
            <a:r>
              <a:rPr lang="en-US" dirty="0"/>
              <a:t>Built user interface using React and Vite</a:t>
            </a:r>
          </a:p>
          <a:p>
            <a:r>
              <a:rPr lang="en-US" dirty="0"/>
              <a:t>Implemented navigation using React Router</a:t>
            </a:r>
          </a:p>
          <a:p>
            <a:endParaRPr lang="en-IN" dirty="0"/>
          </a:p>
        </p:txBody>
      </p:sp>
      <p:sp>
        <p:nvSpPr>
          <p:cNvPr id="45" name="TextBox 44">
            <a:extLst>
              <a:ext uri="{FF2B5EF4-FFF2-40B4-BE49-F238E27FC236}">
                <a16:creationId xmlns:a16="http://schemas.microsoft.com/office/drawing/2014/main" id="{38EB8759-A8CF-101D-1E44-E67AD0E34742}"/>
              </a:ext>
            </a:extLst>
          </p:cNvPr>
          <p:cNvSpPr txBox="1"/>
          <p:nvPr/>
        </p:nvSpPr>
        <p:spPr>
          <a:xfrm>
            <a:off x="9483686" y="3024401"/>
            <a:ext cx="4819746" cy="369332"/>
          </a:xfrm>
          <a:prstGeom prst="rect">
            <a:avLst/>
          </a:prstGeom>
          <a:noFill/>
        </p:spPr>
        <p:txBody>
          <a:bodyPr wrap="square" rtlCol="0">
            <a:spAutoFit/>
          </a:bodyPr>
          <a:lstStyle/>
          <a:p>
            <a:r>
              <a:rPr lang="en-US" dirty="0"/>
              <a:t>Integrated AI chatbot functionality using </a:t>
            </a:r>
            <a:r>
              <a:rPr lang="en-US" dirty="0" err="1"/>
              <a:t>Groq</a:t>
            </a:r>
            <a:r>
              <a:rPr lang="en-US" dirty="0"/>
              <a:t> API</a:t>
            </a:r>
            <a:endParaRPr lang="en-IN" dirty="0"/>
          </a:p>
        </p:txBody>
      </p:sp>
      <p:sp>
        <p:nvSpPr>
          <p:cNvPr id="48" name="TextBox 47">
            <a:extLst>
              <a:ext uri="{FF2B5EF4-FFF2-40B4-BE49-F238E27FC236}">
                <a16:creationId xmlns:a16="http://schemas.microsoft.com/office/drawing/2014/main" id="{A29A3F2D-0203-E8DB-550C-94C4097F6142}"/>
              </a:ext>
            </a:extLst>
          </p:cNvPr>
          <p:cNvSpPr txBox="1"/>
          <p:nvPr/>
        </p:nvSpPr>
        <p:spPr>
          <a:xfrm>
            <a:off x="9494388" y="3365054"/>
            <a:ext cx="4459811" cy="646331"/>
          </a:xfrm>
          <a:prstGeom prst="rect">
            <a:avLst/>
          </a:prstGeom>
          <a:noFill/>
        </p:spPr>
        <p:txBody>
          <a:bodyPr wrap="none" rtlCol="0">
            <a:spAutoFit/>
          </a:bodyPr>
          <a:lstStyle/>
          <a:p>
            <a:r>
              <a:rPr lang="en-US" dirty="0"/>
              <a:t>Implemented authentication and user profile </a:t>
            </a:r>
          </a:p>
          <a:p>
            <a:r>
              <a:rPr lang="en-US" dirty="0"/>
              <a:t>management</a:t>
            </a:r>
            <a:endParaRPr lang="en-IN" dirty="0"/>
          </a:p>
        </p:txBody>
      </p:sp>
      <p:sp>
        <p:nvSpPr>
          <p:cNvPr id="49" name="Callout: Quad Arrow 48">
            <a:extLst>
              <a:ext uri="{FF2B5EF4-FFF2-40B4-BE49-F238E27FC236}">
                <a16:creationId xmlns:a16="http://schemas.microsoft.com/office/drawing/2014/main" id="{019F40C4-FC31-BC17-0C6E-95EDBC127107}"/>
              </a:ext>
            </a:extLst>
          </p:cNvPr>
          <p:cNvSpPr/>
          <p:nvPr/>
        </p:nvSpPr>
        <p:spPr>
          <a:xfrm>
            <a:off x="9335955" y="1498224"/>
            <a:ext cx="109399" cy="184666"/>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Callout: Quad Arrow 49">
            <a:extLst>
              <a:ext uri="{FF2B5EF4-FFF2-40B4-BE49-F238E27FC236}">
                <a16:creationId xmlns:a16="http://schemas.microsoft.com/office/drawing/2014/main" id="{D0E8A5AF-36CC-2145-4777-3C3959E8BB0D}"/>
              </a:ext>
            </a:extLst>
          </p:cNvPr>
          <p:cNvSpPr/>
          <p:nvPr/>
        </p:nvSpPr>
        <p:spPr>
          <a:xfrm>
            <a:off x="9321108" y="4558227"/>
            <a:ext cx="109399" cy="184666"/>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TextBox 50">
            <a:extLst>
              <a:ext uri="{FF2B5EF4-FFF2-40B4-BE49-F238E27FC236}">
                <a16:creationId xmlns:a16="http://schemas.microsoft.com/office/drawing/2014/main" id="{042564A4-AB7C-7B59-0D2E-2CEFD04626C4}"/>
              </a:ext>
            </a:extLst>
          </p:cNvPr>
          <p:cNvSpPr txBox="1"/>
          <p:nvPr/>
        </p:nvSpPr>
        <p:spPr>
          <a:xfrm>
            <a:off x="9546518" y="5864201"/>
            <a:ext cx="4599529" cy="369332"/>
          </a:xfrm>
          <a:prstGeom prst="rect">
            <a:avLst/>
          </a:prstGeom>
          <a:noFill/>
        </p:spPr>
        <p:txBody>
          <a:bodyPr wrap="none" rtlCol="0">
            <a:spAutoFit/>
          </a:bodyPr>
          <a:lstStyle/>
          <a:p>
            <a:r>
              <a:rPr lang="en-US" dirty="0"/>
              <a:t>Designed responsive layouts using Tailwind CSS</a:t>
            </a:r>
            <a:endParaRPr lang="en-IN" dirty="0"/>
          </a:p>
        </p:txBody>
      </p:sp>
    </p:spTree>
    <p:extLst>
      <p:ext uri="{BB962C8B-B14F-4D97-AF65-F5344CB8AC3E}">
        <p14:creationId xmlns:p14="http://schemas.microsoft.com/office/powerpoint/2010/main" val="629303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1655EB32-264A-F782-C76E-A008FEB466C4}"/>
              </a:ext>
            </a:extLst>
          </p:cNvPr>
          <p:cNvSpPr/>
          <p:nvPr/>
        </p:nvSpPr>
        <p:spPr>
          <a:xfrm>
            <a:off x="0" y="-10394"/>
            <a:ext cx="14640147" cy="8288488"/>
          </a:xfrm>
          <a:prstGeom prst="rect">
            <a:avLst/>
          </a:prstGeom>
          <a:solidFill>
            <a:srgbClr val="8CD6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p:txBody>
      </p:sp>
      <p:sp>
        <p:nvSpPr>
          <p:cNvPr id="2" name="Text 0"/>
          <p:cNvSpPr/>
          <p:nvPr/>
        </p:nvSpPr>
        <p:spPr>
          <a:xfrm>
            <a:off x="1635366" y="290637"/>
            <a:ext cx="11127689" cy="439341"/>
          </a:xfrm>
          <a:prstGeom prst="rect">
            <a:avLst/>
          </a:prstGeom>
          <a:noFill/>
          <a:ln/>
        </p:spPr>
        <p:txBody>
          <a:bodyPr wrap="none" lIns="0" tIns="0" rIns="0" bIns="0" rtlCol="0" anchor="t"/>
          <a:lstStyle/>
          <a:p>
            <a:pPr>
              <a:lnSpc>
                <a:spcPts val="3450"/>
              </a:lnSpc>
            </a:pPr>
            <a:r>
              <a:rPr lang="en-US" sz="3200" b="1" dirty="0">
                <a:solidFill>
                  <a:srgbClr val="00002E"/>
                </a:solidFill>
                <a:latin typeface="Nunito Semi Bold" pitchFamily="34" charset="0"/>
                <a:ea typeface="Nunito Semi Bold" pitchFamily="34" charset="-122"/>
                <a:cs typeface="Nunito Semi Bold" pitchFamily="34" charset="-120"/>
              </a:rPr>
              <a:t>Technology Stack of Online Medication &amp;Prescription Tracker</a:t>
            </a:r>
            <a:endParaRPr lang="en-US" sz="3200" b="1" dirty="0"/>
          </a:p>
        </p:txBody>
      </p:sp>
      <p:sp>
        <p:nvSpPr>
          <p:cNvPr id="3" name="Text 1"/>
          <p:cNvSpPr/>
          <p:nvPr/>
        </p:nvSpPr>
        <p:spPr>
          <a:xfrm>
            <a:off x="6452329" y="5736654"/>
            <a:ext cx="2358960" cy="263485"/>
          </a:xfrm>
          <a:prstGeom prst="rect">
            <a:avLst/>
          </a:prstGeom>
          <a:noFill/>
          <a:ln/>
        </p:spPr>
        <p:txBody>
          <a:bodyPr wrap="none" lIns="0" tIns="0" rIns="0" bIns="0" rtlCol="0" anchor="t"/>
          <a:lstStyle/>
          <a:p>
            <a:pPr marL="0" indent="0" algn="l">
              <a:lnSpc>
                <a:spcPts val="2050"/>
              </a:lnSpc>
              <a:buNone/>
            </a:pPr>
            <a:r>
              <a:rPr lang="en-US" sz="2400" b="1" dirty="0">
                <a:solidFill>
                  <a:srgbClr val="00002E"/>
                </a:solidFill>
                <a:latin typeface="Nunito Semi Bold" pitchFamily="34" charset="0"/>
                <a:ea typeface="Nunito Semi Bold" pitchFamily="34" charset="-122"/>
                <a:cs typeface="Nunito Semi Bold" pitchFamily="34" charset="-120"/>
              </a:rPr>
              <a:t>Cloud &amp; Storage </a:t>
            </a:r>
            <a:endParaRPr lang="en-US" sz="2400" b="1" dirty="0"/>
          </a:p>
        </p:txBody>
      </p:sp>
      <p:sp>
        <p:nvSpPr>
          <p:cNvPr id="6" name="Text 3"/>
          <p:cNvSpPr/>
          <p:nvPr/>
        </p:nvSpPr>
        <p:spPr>
          <a:xfrm>
            <a:off x="874300" y="1106874"/>
            <a:ext cx="2812565" cy="268675"/>
          </a:xfrm>
          <a:prstGeom prst="rect">
            <a:avLst/>
          </a:prstGeom>
          <a:noFill/>
          <a:ln/>
        </p:spPr>
        <p:txBody>
          <a:bodyPr wrap="none" lIns="0" tIns="0" rIns="0" bIns="0" rtlCol="0" anchor="t"/>
          <a:lstStyle/>
          <a:p>
            <a:pPr marL="0" indent="0" algn="l">
              <a:lnSpc>
                <a:spcPts val="2050"/>
              </a:lnSpc>
              <a:buNone/>
            </a:pPr>
            <a:r>
              <a:rPr lang="en-US" sz="2400" b="1" dirty="0">
                <a:solidFill>
                  <a:srgbClr val="00002E"/>
                </a:solidFill>
                <a:latin typeface="Nunito Semi Bold" pitchFamily="34" charset="0"/>
                <a:ea typeface="Nunito Semi Bold" pitchFamily="34" charset="-122"/>
                <a:cs typeface="Nunito Semi Bold" pitchFamily="34" charset="-120"/>
              </a:rPr>
              <a:t>Backend Framework</a:t>
            </a:r>
            <a:r>
              <a:rPr lang="en-US" sz="2400" dirty="0">
                <a:solidFill>
                  <a:srgbClr val="00002E"/>
                </a:solidFill>
                <a:latin typeface="Nunito Semi Bold" pitchFamily="34" charset="0"/>
                <a:ea typeface="Nunito Semi Bold" pitchFamily="34" charset="-122"/>
                <a:cs typeface="Nunito Semi Bold" pitchFamily="34" charset="-120"/>
              </a:rPr>
              <a:t> </a:t>
            </a:r>
            <a:endParaRPr lang="en-US" sz="24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465575" y="4502039"/>
            <a:ext cx="763008" cy="763008"/>
          </a:xfrm>
          <a:prstGeom prst="rect">
            <a:avLst/>
          </a:prstGeom>
        </p:spPr>
      </p:pic>
      <p:sp>
        <p:nvSpPr>
          <p:cNvPr id="10" name="Text 5"/>
          <p:cNvSpPr/>
          <p:nvPr/>
        </p:nvSpPr>
        <p:spPr>
          <a:xfrm>
            <a:off x="12512932" y="5287864"/>
            <a:ext cx="1757005" cy="219670"/>
          </a:xfrm>
          <a:prstGeom prst="rect">
            <a:avLst/>
          </a:prstGeom>
          <a:noFill/>
          <a:ln/>
        </p:spPr>
        <p:txBody>
          <a:bodyPr wrap="none" lIns="0" tIns="0" rIns="0" bIns="0" rtlCol="0" anchor="t"/>
          <a:lstStyle/>
          <a:p>
            <a:pPr marL="0" indent="0" algn="l">
              <a:lnSpc>
                <a:spcPts val="1700"/>
              </a:lnSpc>
              <a:buNone/>
            </a:pPr>
            <a:r>
              <a:rPr lang="en-US" sz="1350" dirty="0">
                <a:solidFill>
                  <a:srgbClr val="00002E"/>
                </a:solidFill>
                <a:latin typeface="Nunito Semi Bold" pitchFamily="34" charset="0"/>
                <a:ea typeface="Nunito Semi Bold" pitchFamily="34" charset="-122"/>
                <a:cs typeface="Nunito Semi Bold" pitchFamily="34" charset="-120"/>
              </a:rPr>
              <a:t>VS Code</a:t>
            </a:r>
            <a:endParaRPr lang="en-US" sz="1350" dirty="0"/>
          </a:p>
        </p:txBody>
      </p:sp>
      <p:sp>
        <p:nvSpPr>
          <p:cNvPr id="11" name="Text 6"/>
          <p:cNvSpPr/>
          <p:nvPr/>
        </p:nvSpPr>
        <p:spPr>
          <a:xfrm>
            <a:off x="11885375" y="5460878"/>
            <a:ext cx="3155394" cy="193953"/>
          </a:xfrm>
          <a:prstGeom prst="rect">
            <a:avLst/>
          </a:prstGeom>
          <a:noFill/>
          <a:ln/>
        </p:spPr>
        <p:txBody>
          <a:bodyPr wrap="none" lIns="0" tIns="0" rIns="0" bIns="0" rtlCol="0" anchor="t"/>
          <a:lstStyle/>
          <a:p>
            <a:pPr marL="0" indent="0" algn="l">
              <a:lnSpc>
                <a:spcPts val="1500"/>
              </a:lnSpc>
              <a:buNone/>
            </a:pPr>
            <a:r>
              <a:rPr lang="en-US" sz="1150" dirty="0">
                <a:solidFill>
                  <a:srgbClr val="00002E"/>
                </a:solidFill>
                <a:latin typeface="PT Sans" pitchFamily="34" charset="0"/>
                <a:ea typeface="PT Sans" pitchFamily="34" charset="-122"/>
                <a:cs typeface="PT Sans" pitchFamily="34" charset="-120"/>
              </a:rPr>
              <a:t>Primary development environment</a:t>
            </a:r>
            <a:endParaRPr lang="en-US" sz="11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524133" y="5956011"/>
            <a:ext cx="797904" cy="797904"/>
          </a:xfrm>
          <a:prstGeom prst="rect">
            <a:avLst/>
          </a:prstGeom>
        </p:spPr>
      </p:pic>
      <p:sp>
        <p:nvSpPr>
          <p:cNvPr id="13" name="Text 7"/>
          <p:cNvSpPr/>
          <p:nvPr/>
        </p:nvSpPr>
        <p:spPr>
          <a:xfrm>
            <a:off x="12791212" y="6736243"/>
            <a:ext cx="1757005" cy="219670"/>
          </a:xfrm>
          <a:prstGeom prst="rect">
            <a:avLst/>
          </a:prstGeom>
          <a:noFill/>
          <a:ln/>
        </p:spPr>
        <p:txBody>
          <a:bodyPr wrap="none" lIns="0" tIns="0" rIns="0" bIns="0" rtlCol="0" anchor="t"/>
          <a:lstStyle/>
          <a:p>
            <a:pPr marL="0" indent="0" algn="l">
              <a:lnSpc>
                <a:spcPts val="1700"/>
              </a:lnSpc>
              <a:buNone/>
            </a:pPr>
            <a:r>
              <a:rPr lang="en-US" sz="1350" dirty="0">
                <a:solidFill>
                  <a:srgbClr val="00002E"/>
                </a:solidFill>
                <a:latin typeface="Nunito Semi Bold" pitchFamily="34" charset="0"/>
                <a:ea typeface="Nunito Semi Bold" pitchFamily="34" charset="-122"/>
                <a:cs typeface="Nunito Semi Bold" pitchFamily="34" charset="-120"/>
              </a:rPr>
              <a:t>Git</a:t>
            </a:r>
            <a:endParaRPr lang="en-US" sz="1350" dirty="0"/>
          </a:p>
        </p:txBody>
      </p:sp>
      <p:sp>
        <p:nvSpPr>
          <p:cNvPr id="14" name="Text 8"/>
          <p:cNvSpPr/>
          <p:nvPr/>
        </p:nvSpPr>
        <p:spPr>
          <a:xfrm>
            <a:off x="11891306" y="6906758"/>
            <a:ext cx="3155394" cy="193953"/>
          </a:xfrm>
          <a:prstGeom prst="rect">
            <a:avLst/>
          </a:prstGeom>
          <a:noFill/>
          <a:ln/>
        </p:spPr>
        <p:txBody>
          <a:bodyPr wrap="none" lIns="0" tIns="0" rIns="0" bIns="0" rtlCol="0" anchor="t"/>
          <a:lstStyle/>
          <a:p>
            <a:pPr marL="0" indent="0" algn="l">
              <a:lnSpc>
                <a:spcPts val="1500"/>
              </a:lnSpc>
              <a:buNone/>
            </a:pPr>
            <a:r>
              <a:rPr lang="en-US" sz="1150" dirty="0">
                <a:solidFill>
                  <a:srgbClr val="00002E"/>
                </a:solidFill>
                <a:latin typeface="PT Sans" pitchFamily="34" charset="0"/>
                <a:ea typeface="PT Sans" pitchFamily="34" charset="-122"/>
                <a:cs typeface="PT Sans" pitchFamily="34" charset="-120"/>
              </a:rPr>
              <a:t>Version control and collaboration</a:t>
            </a:r>
            <a:endParaRPr lang="en-US" sz="115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447650" y="1669725"/>
            <a:ext cx="744727" cy="744727"/>
          </a:xfrm>
          <a:prstGeom prst="rect">
            <a:avLst/>
          </a:prstGeom>
        </p:spPr>
      </p:pic>
      <p:sp>
        <p:nvSpPr>
          <p:cNvPr id="16" name="Text 9"/>
          <p:cNvSpPr/>
          <p:nvPr/>
        </p:nvSpPr>
        <p:spPr>
          <a:xfrm>
            <a:off x="12498640" y="2433547"/>
            <a:ext cx="1757005" cy="219670"/>
          </a:xfrm>
          <a:prstGeom prst="rect">
            <a:avLst/>
          </a:prstGeom>
          <a:noFill/>
          <a:ln/>
        </p:spPr>
        <p:txBody>
          <a:bodyPr wrap="none" lIns="0" tIns="0" rIns="0" bIns="0" rtlCol="0" anchor="t"/>
          <a:lstStyle/>
          <a:p>
            <a:pPr marL="0" indent="0" algn="l">
              <a:lnSpc>
                <a:spcPts val="1700"/>
              </a:lnSpc>
              <a:buNone/>
            </a:pPr>
            <a:r>
              <a:rPr lang="en-US" sz="1350" dirty="0">
                <a:solidFill>
                  <a:srgbClr val="00002E"/>
                </a:solidFill>
                <a:latin typeface="Nunito Semi Bold" pitchFamily="34" charset="0"/>
                <a:ea typeface="Nunito Semi Bold" pitchFamily="34" charset="-122"/>
                <a:cs typeface="Nunito Semi Bold" pitchFamily="34" charset="-120"/>
              </a:rPr>
              <a:t>Postman</a:t>
            </a:r>
            <a:endParaRPr lang="en-US" sz="1350" dirty="0"/>
          </a:p>
        </p:txBody>
      </p:sp>
      <p:sp>
        <p:nvSpPr>
          <p:cNvPr id="17" name="Text 10"/>
          <p:cNvSpPr/>
          <p:nvPr/>
        </p:nvSpPr>
        <p:spPr>
          <a:xfrm>
            <a:off x="11871083" y="2608405"/>
            <a:ext cx="3155513" cy="193953"/>
          </a:xfrm>
          <a:prstGeom prst="rect">
            <a:avLst/>
          </a:prstGeom>
          <a:noFill/>
          <a:ln/>
        </p:spPr>
        <p:txBody>
          <a:bodyPr wrap="none" lIns="0" tIns="0" rIns="0" bIns="0" rtlCol="0" anchor="t"/>
          <a:lstStyle/>
          <a:p>
            <a:pPr marL="0" indent="0" algn="l">
              <a:lnSpc>
                <a:spcPts val="1500"/>
              </a:lnSpc>
              <a:buNone/>
            </a:pPr>
            <a:r>
              <a:rPr lang="en-US" sz="1150" dirty="0">
                <a:solidFill>
                  <a:srgbClr val="00002E"/>
                </a:solidFill>
                <a:latin typeface="PT Sans" pitchFamily="34" charset="0"/>
                <a:ea typeface="PT Sans" pitchFamily="34" charset="-122"/>
                <a:cs typeface="PT Sans" pitchFamily="34" charset="-120"/>
              </a:rPr>
              <a:t>API testing and documentation</a:t>
            </a:r>
            <a:endParaRPr lang="en-US" sz="1150" dirty="0"/>
          </a:p>
        </p:txBody>
      </p:sp>
      <p:sp>
        <p:nvSpPr>
          <p:cNvPr id="8" name="Arrow: Chevron 7">
            <a:extLst>
              <a:ext uri="{FF2B5EF4-FFF2-40B4-BE49-F238E27FC236}">
                <a16:creationId xmlns:a16="http://schemas.microsoft.com/office/drawing/2014/main" id="{15388EBA-5000-7E84-18D5-BD8B18B9F57A}"/>
              </a:ext>
            </a:extLst>
          </p:cNvPr>
          <p:cNvSpPr/>
          <p:nvPr/>
        </p:nvSpPr>
        <p:spPr>
          <a:xfrm>
            <a:off x="454037" y="1108565"/>
            <a:ext cx="305824" cy="193952"/>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pic>
        <p:nvPicPr>
          <p:cNvPr id="1030" name="Picture 6">
            <a:extLst>
              <a:ext uri="{FF2B5EF4-FFF2-40B4-BE49-F238E27FC236}">
                <a16:creationId xmlns:a16="http://schemas.microsoft.com/office/drawing/2014/main" id="{F3C4C776-AA56-26BC-5CED-7A19E819AF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0218" y="1663633"/>
            <a:ext cx="857418" cy="85741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1061BB47-49CB-BABF-AAE6-7D1889ABB0C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70906" y="1563132"/>
            <a:ext cx="1063630" cy="106363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EC24B37B-840A-A0B2-331F-B87966BF9BC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08617" y="3441685"/>
            <a:ext cx="1016635" cy="1016635"/>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C410CDF8-1EDA-7934-1F41-1555613A20B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98087" y="3215412"/>
            <a:ext cx="941109" cy="844360"/>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31CA856A-D563-8DA1-3F87-B8F8DE15316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01526" y="1468362"/>
            <a:ext cx="986997" cy="986997"/>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7E486EC4-4C42-AE7D-B25D-EF44A8A3D82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46632" y="6236016"/>
            <a:ext cx="533951" cy="533951"/>
          </a:xfrm>
          <a:prstGeom prst="rect">
            <a:avLst/>
          </a:prstGeom>
          <a:noFill/>
          <a:extLst>
            <a:ext uri="{909E8E84-426E-40DD-AFC4-6F175D3DCCD1}">
              <a14:hiddenFill xmlns:a14="http://schemas.microsoft.com/office/drawing/2010/main">
                <a:solidFill>
                  <a:srgbClr val="FFFFFF"/>
                </a:solidFill>
              </a14:hiddenFill>
            </a:ext>
          </a:extLst>
        </p:spPr>
      </p:pic>
      <p:pic>
        <p:nvPicPr>
          <p:cNvPr id="1054" name="Picture 30">
            <a:extLst>
              <a:ext uri="{FF2B5EF4-FFF2-40B4-BE49-F238E27FC236}">
                <a16:creationId xmlns:a16="http://schemas.microsoft.com/office/drawing/2014/main" id="{057C1BDB-7192-5C14-7073-AEE5B27A70D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374707" y="2864967"/>
            <a:ext cx="1077933" cy="1077933"/>
          </a:xfrm>
          <a:prstGeom prst="rect">
            <a:avLst/>
          </a:prstGeom>
          <a:noFill/>
          <a:extLst>
            <a:ext uri="{909E8E84-426E-40DD-AFC4-6F175D3DCCD1}">
              <a14:hiddenFill xmlns:a14="http://schemas.microsoft.com/office/drawing/2010/main">
                <a:solidFill>
                  <a:srgbClr val="FFFFFF"/>
                </a:solidFill>
              </a14:hiddenFill>
            </a:ext>
          </a:extLst>
        </p:spPr>
      </p:pic>
      <p:pic>
        <p:nvPicPr>
          <p:cNvPr id="1056" name="Picture 32">
            <a:extLst>
              <a:ext uri="{FF2B5EF4-FFF2-40B4-BE49-F238E27FC236}">
                <a16:creationId xmlns:a16="http://schemas.microsoft.com/office/drawing/2014/main" id="{92263540-7946-23AA-0094-FFFD924D473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944509" y="6054777"/>
            <a:ext cx="967316" cy="967316"/>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C1F123EC-A8F4-59C7-99EB-BEB222BCEF6A}"/>
              </a:ext>
            </a:extLst>
          </p:cNvPr>
          <p:cNvSpPr txBox="1"/>
          <p:nvPr/>
        </p:nvSpPr>
        <p:spPr>
          <a:xfrm>
            <a:off x="1481788" y="4096961"/>
            <a:ext cx="1032655" cy="307777"/>
          </a:xfrm>
          <a:prstGeom prst="rect">
            <a:avLst/>
          </a:prstGeom>
          <a:noFill/>
        </p:spPr>
        <p:txBody>
          <a:bodyPr wrap="none" rtlCol="0">
            <a:spAutoFit/>
          </a:bodyPr>
          <a:lstStyle/>
          <a:p>
            <a:r>
              <a:rPr lang="en-IN" sz="1400" dirty="0"/>
              <a:t>Spring Boot</a:t>
            </a:r>
          </a:p>
        </p:txBody>
      </p:sp>
      <p:sp>
        <p:nvSpPr>
          <p:cNvPr id="29" name="TextBox 28">
            <a:extLst>
              <a:ext uri="{FF2B5EF4-FFF2-40B4-BE49-F238E27FC236}">
                <a16:creationId xmlns:a16="http://schemas.microsoft.com/office/drawing/2014/main" id="{862DEAFC-05F0-A942-19ED-3628F666744C}"/>
              </a:ext>
            </a:extLst>
          </p:cNvPr>
          <p:cNvSpPr txBox="1"/>
          <p:nvPr/>
        </p:nvSpPr>
        <p:spPr>
          <a:xfrm>
            <a:off x="542221" y="4287366"/>
            <a:ext cx="3019032" cy="523220"/>
          </a:xfrm>
          <a:prstGeom prst="rect">
            <a:avLst/>
          </a:prstGeom>
          <a:noFill/>
        </p:spPr>
        <p:txBody>
          <a:bodyPr wrap="none" rtlCol="0">
            <a:spAutoFit/>
          </a:bodyPr>
          <a:lstStyle/>
          <a:p>
            <a:pPr algn="ctr"/>
            <a:r>
              <a:rPr lang="en-US" sz="1400" dirty="0"/>
              <a:t>Backend framework for building</a:t>
            </a:r>
          </a:p>
          <a:p>
            <a:pPr algn="ctr"/>
            <a:r>
              <a:rPr lang="en-US" sz="1400" dirty="0"/>
              <a:t>REST APIs and handling business logic</a:t>
            </a:r>
            <a:endParaRPr lang="en-IN" sz="1400" dirty="0"/>
          </a:p>
        </p:txBody>
      </p:sp>
      <p:sp>
        <p:nvSpPr>
          <p:cNvPr id="30" name="TextBox 29">
            <a:extLst>
              <a:ext uri="{FF2B5EF4-FFF2-40B4-BE49-F238E27FC236}">
                <a16:creationId xmlns:a16="http://schemas.microsoft.com/office/drawing/2014/main" id="{E23F0877-7B99-2A4D-FB7B-997E87708606}"/>
              </a:ext>
            </a:extLst>
          </p:cNvPr>
          <p:cNvSpPr txBox="1"/>
          <p:nvPr/>
        </p:nvSpPr>
        <p:spPr>
          <a:xfrm>
            <a:off x="1747581" y="2437415"/>
            <a:ext cx="491673" cy="307777"/>
          </a:xfrm>
          <a:prstGeom prst="rect">
            <a:avLst/>
          </a:prstGeom>
          <a:noFill/>
        </p:spPr>
        <p:txBody>
          <a:bodyPr wrap="none" rtlCol="0">
            <a:spAutoFit/>
          </a:bodyPr>
          <a:lstStyle/>
          <a:p>
            <a:r>
              <a:rPr lang="en-IN" sz="1400" dirty="0"/>
              <a:t>Java</a:t>
            </a:r>
          </a:p>
        </p:txBody>
      </p:sp>
      <p:sp>
        <p:nvSpPr>
          <p:cNvPr id="31" name="TextBox 30">
            <a:extLst>
              <a:ext uri="{FF2B5EF4-FFF2-40B4-BE49-F238E27FC236}">
                <a16:creationId xmlns:a16="http://schemas.microsoft.com/office/drawing/2014/main" id="{1BED6D64-3D38-1046-DFBA-B51D99F8A445}"/>
              </a:ext>
            </a:extLst>
          </p:cNvPr>
          <p:cNvSpPr txBox="1"/>
          <p:nvPr/>
        </p:nvSpPr>
        <p:spPr>
          <a:xfrm>
            <a:off x="901172" y="2617600"/>
            <a:ext cx="2341790" cy="523220"/>
          </a:xfrm>
          <a:prstGeom prst="rect">
            <a:avLst/>
          </a:prstGeom>
          <a:noFill/>
        </p:spPr>
        <p:txBody>
          <a:bodyPr wrap="square" rtlCol="0">
            <a:spAutoFit/>
          </a:bodyPr>
          <a:lstStyle/>
          <a:p>
            <a:pPr algn="ctr"/>
            <a:r>
              <a:rPr lang="en-US" sz="1400" dirty="0"/>
              <a:t>Programming language used </a:t>
            </a:r>
          </a:p>
          <a:p>
            <a:pPr algn="ctr"/>
            <a:r>
              <a:rPr lang="en-US" sz="1400" dirty="0"/>
              <a:t>for backend development</a:t>
            </a:r>
            <a:endParaRPr lang="en-IN" sz="1400" dirty="0"/>
          </a:p>
        </p:txBody>
      </p:sp>
      <p:sp>
        <p:nvSpPr>
          <p:cNvPr id="33" name="TextBox 32">
            <a:extLst>
              <a:ext uri="{FF2B5EF4-FFF2-40B4-BE49-F238E27FC236}">
                <a16:creationId xmlns:a16="http://schemas.microsoft.com/office/drawing/2014/main" id="{09BA7D99-F5BB-13DE-BA2C-B71D4A5FF241}"/>
              </a:ext>
            </a:extLst>
          </p:cNvPr>
          <p:cNvSpPr txBox="1"/>
          <p:nvPr/>
        </p:nvSpPr>
        <p:spPr>
          <a:xfrm>
            <a:off x="1608463" y="6750337"/>
            <a:ext cx="1464384" cy="307777"/>
          </a:xfrm>
          <a:prstGeom prst="rect">
            <a:avLst/>
          </a:prstGeom>
          <a:noFill/>
        </p:spPr>
        <p:txBody>
          <a:bodyPr wrap="square" rtlCol="0">
            <a:spAutoFit/>
          </a:bodyPr>
          <a:lstStyle/>
          <a:p>
            <a:r>
              <a:rPr lang="en-IN" sz="1400" dirty="0" err="1"/>
              <a:t>Groq</a:t>
            </a:r>
            <a:r>
              <a:rPr lang="en-IN" sz="1400" dirty="0"/>
              <a:t> API</a:t>
            </a:r>
          </a:p>
        </p:txBody>
      </p:sp>
      <p:sp>
        <p:nvSpPr>
          <p:cNvPr id="34" name="TextBox 33">
            <a:extLst>
              <a:ext uri="{FF2B5EF4-FFF2-40B4-BE49-F238E27FC236}">
                <a16:creationId xmlns:a16="http://schemas.microsoft.com/office/drawing/2014/main" id="{F1EB546D-6660-15AF-0112-F5B16BF75837}"/>
              </a:ext>
            </a:extLst>
          </p:cNvPr>
          <p:cNvSpPr txBox="1"/>
          <p:nvPr/>
        </p:nvSpPr>
        <p:spPr>
          <a:xfrm>
            <a:off x="681834" y="6998848"/>
            <a:ext cx="2812565" cy="738664"/>
          </a:xfrm>
          <a:prstGeom prst="rect">
            <a:avLst/>
          </a:prstGeom>
          <a:noFill/>
        </p:spPr>
        <p:txBody>
          <a:bodyPr wrap="none" rtlCol="0">
            <a:spAutoFit/>
          </a:bodyPr>
          <a:lstStyle/>
          <a:p>
            <a:pPr algn="ctr"/>
            <a:r>
              <a:rPr lang="en-US" sz="1400" dirty="0"/>
              <a:t>Provides AI-powered chatbot</a:t>
            </a:r>
          </a:p>
          <a:p>
            <a:pPr algn="ctr"/>
            <a:r>
              <a:rPr lang="en-US" sz="1400" dirty="0"/>
              <a:t>functionality to answer user queries</a:t>
            </a:r>
          </a:p>
          <a:p>
            <a:pPr algn="ctr"/>
            <a:r>
              <a:rPr lang="en-US" sz="1400" dirty="0"/>
              <a:t>related to medicines and symptoms.</a:t>
            </a:r>
            <a:endParaRPr lang="en-IN" sz="1400" dirty="0"/>
          </a:p>
        </p:txBody>
      </p:sp>
      <p:pic>
        <p:nvPicPr>
          <p:cNvPr id="1058" name="Picture 34">
            <a:extLst>
              <a:ext uri="{FF2B5EF4-FFF2-40B4-BE49-F238E27FC236}">
                <a16:creationId xmlns:a16="http://schemas.microsoft.com/office/drawing/2014/main" id="{24168ABE-6021-D173-7C6F-B4C17746203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92515" y="4354486"/>
            <a:ext cx="1978600" cy="1978600"/>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3B0BC07F-FAB6-D0C0-D16B-46BAEC4CE5E7}"/>
              </a:ext>
            </a:extLst>
          </p:cNvPr>
          <p:cNvSpPr txBox="1"/>
          <p:nvPr/>
        </p:nvSpPr>
        <p:spPr>
          <a:xfrm>
            <a:off x="629898" y="5575281"/>
            <a:ext cx="2884892" cy="523220"/>
          </a:xfrm>
          <a:prstGeom prst="rect">
            <a:avLst/>
          </a:prstGeom>
          <a:noFill/>
        </p:spPr>
        <p:txBody>
          <a:bodyPr wrap="none" rtlCol="0">
            <a:spAutoFit/>
          </a:bodyPr>
          <a:lstStyle/>
          <a:p>
            <a:pPr algn="ctr"/>
            <a:r>
              <a:rPr lang="en-IN" sz="1400" dirty="0"/>
              <a:t>Language model used for generating </a:t>
            </a:r>
          </a:p>
          <a:p>
            <a:pPr algn="ctr"/>
            <a:r>
              <a:rPr lang="en-IN" sz="1400" dirty="0"/>
              <a:t>intelligent chatbot responses.</a:t>
            </a:r>
          </a:p>
        </p:txBody>
      </p:sp>
      <p:sp>
        <p:nvSpPr>
          <p:cNvPr id="36" name="Arrow: Chevron 35">
            <a:extLst>
              <a:ext uri="{FF2B5EF4-FFF2-40B4-BE49-F238E27FC236}">
                <a16:creationId xmlns:a16="http://schemas.microsoft.com/office/drawing/2014/main" id="{082C2678-5BEA-3020-9A14-2FE7CECAA3AA}"/>
              </a:ext>
            </a:extLst>
          </p:cNvPr>
          <p:cNvSpPr/>
          <p:nvPr/>
        </p:nvSpPr>
        <p:spPr>
          <a:xfrm>
            <a:off x="6037769" y="5728045"/>
            <a:ext cx="305824" cy="209614"/>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37" name="TextBox 36">
            <a:extLst>
              <a:ext uri="{FF2B5EF4-FFF2-40B4-BE49-F238E27FC236}">
                <a16:creationId xmlns:a16="http://schemas.microsoft.com/office/drawing/2014/main" id="{FFE0075D-D66A-9B30-7239-AD810A86C52F}"/>
              </a:ext>
            </a:extLst>
          </p:cNvPr>
          <p:cNvSpPr txBox="1"/>
          <p:nvPr/>
        </p:nvSpPr>
        <p:spPr>
          <a:xfrm>
            <a:off x="6944509" y="6969311"/>
            <a:ext cx="964585" cy="369332"/>
          </a:xfrm>
          <a:prstGeom prst="rect">
            <a:avLst/>
          </a:prstGeom>
          <a:noFill/>
        </p:spPr>
        <p:txBody>
          <a:bodyPr wrap="square" rtlCol="0">
            <a:spAutoFit/>
          </a:bodyPr>
          <a:lstStyle/>
          <a:p>
            <a:r>
              <a:rPr lang="en-IN" sz="1400" dirty="0"/>
              <a:t>MongoDB</a:t>
            </a:r>
            <a:r>
              <a:rPr lang="en-IN" dirty="0"/>
              <a:t> </a:t>
            </a:r>
          </a:p>
        </p:txBody>
      </p:sp>
      <p:sp>
        <p:nvSpPr>
          <p:cNvPr id="38" name="TextBox 37">
            <a:extLst>
              <a:ext uri="{FF2B5EF4-FFF2-40B4-BE49-F238E27FC236}">
                <a16:creationId xmlns:a16="http://schemas.microsoft.com/office/drawing/2014/main" id="{28674586-C258-B063-5168-7A82B4F16828}"/>
              </a:ext>
            </a:extLst>
          </p:cNvPr>
          <p:cNvSpPr txBox="1"/>
          <p:nvPr/>
        </p:nvSpPr>
        <p:spPr>
          <a:xfrm>
            <a:off x="5787542" y="7207384"/>
            <a:ext cx="3355214" cy="523220"/>
          </a:xfrm>
          <a:prstGeom prst="rect">
            <a:avLst/>
          </a:prstGeom>
          <a:noFill/>
        </p:spPr>
        <p:txBody>
          <a:bodyPr wrap="none" rtlCol="0">
            <a:spAutoFit/>
          </a:bodyPr>
          <a:lstStyle/>
          <a:p>
            <a:pPr algn="ctr"/>
            <a:r>
              <a:rPr lang="en-US" sz="1400" dirty="0"/>
              <a:t>Database used for storing user information,</a:t>
            </a:r>
          </a:p>
          <a:p>
            <a:pPr algn="ctr"/>
            <a:r>
              <a:rPr lang="en-US" sz="1400" dirty="0"/>
              <a:t> medicine data, and application records.</a:t>
            </a:r>
            <a:endParaRPr lang="en-IN" sz="1400" dirty="0"/>
          </a:p>
        </p:txBody>
      </p:sp>
      <p:sp>
        <p:nvSpPr>
          <p:cNvPr id="39" name="TextBox 38">
            <a:extLst>
              <a:ext uri="{FF2B5EF4-FFF2-40B4-BE49-F238E27FC236}">
                <a16:creationId xmlns:a16="http://schemas.microsoft.com/office/drawing/2014/main" id="{AA8E771A-5ADF-82A5-CD1A-DBEEFC650B99}"/>
              </a:ext>
            </a:extLst>
          </p:cNvPr>
          <p:cNvSpPr txBox="1"/>
          <p:nvPr/>
        </p:nvSpPr>
        <p:spPr>
          <a:xfrm>
            <a:off x="6874821" y="1006697"/>
            <a:ext cx="1482541" cy="461665"/>
          </a:xfrm>
          <a:prstGeom prst="rect">
            <a:avLst/>
          </a:prstGeom>
          <a:noFill/>
        </p:spPr>
        <p:txBody>
          <a:bodyPr wrap="square" rtlCol="0">
            <a:spAutoFit/>
          </a:bodyPr>
          <a:lstStyle/>
          <a:p>
            <a:r>
              <a:rPr lang="en-IN" sz="2400" b="1" dirty="0">
                <a:latin typeface="Nunito Semi Bold" panose="020B0604020202020204" charset="0"/>
              </a:rPr>
              <a:t>Frontend</a:t>
            </a:r>
          </a:p>
        </p:txBody>
      </p:sp>
      <p:sp>
        <p:nvSpPr>
          <p:cNvPr id="40" name="Arrow: Chevron 39">
            <a:extLst>
              <a:ext uri="{FF2B5EF4-FFF2-40B4-BE49-F238E27FC236}">
                <a16:creationId xmlns:a16="http://schemas.microsoft.com/office/drawing/2014/main" id="{A3D48A90-3ED5-5032-9C01-3CB41CF34698}"/>
              </a:ext>
            </a:extLst>
          </p:cNvPr>
          <p:cNvSpPr/>
          <p:nvPr/>
        </p:nvSpPr>
        <p:spPr>
          <a:xfrm>
            <a:off x="6491786" y="1108674"/>
            <a:ext cx="342214" cy="213270"/>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1028" name="Picture 4">
            <a:extLst>
              <a:ext uri="{FF2B5EF4-FFF2-40B4-BE49-F238E27FC236}">
                <a16:creationId xmlns:a16="http://schemas.microsoft.com/office/drawing/2014/main" id="{A95AA94B-3AE3-A7F9-2D92-6EB4DC14DE7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rot="10800000" flipV="1">
            <a:off x="6276862" y="1720297"/>
            <a:ext cx="744727" cy="74472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0C1FFC1-45E7-4C39-4BF8-461972CBC0F5}"/>
              </a:ext>
            </a:extLst>
          </p:cNvPr>
          <p:cNvSpPr txBox="1"/>
          <p:nvPr/>
        </p:nvSpPr>
        <p:spPr>
          <a:xfrm>
            <a:off x="5062967" y="2483837"/>
            <a:ext cx="957378" cy="307777"/>
          </a:xfrm>
          <a:prstGeom prst="rect">
            <a:avLst/>
          </a:prstGeom>
          <a:noFill/>
        </p:spPr>
        <p:txBody>
          <a:bodyPr wrap="none" rtlCol="0">
            <a:spAutoFit/>
          </a:bodyPr>
          <a:lstStyle/>
          <a:p>
            <a:r>
              <a:rPr lang="en-IN" sz="1400" dirty="0"/>
              <a:t>React with</a:t>
            </a:r>
          </a:p>
        </p:txBody>
      </p:sp>
      <p:sp>
        <p:nvSpPr>
          <p:cNvPr id="18" name="TextBox 17">
            <a:extLst>
              <a:ext uri="{FF2B5EF4-FFF2-40B4-BE49-F238E27FC236}">
                <a16:creationId xmlns:a16="http://schemas.microsoft.com/office/drawing/2014/main" id="{80832506-3649-D23B-28B1-F2192E9928C0}"/>
              </a:ext>
            </a:extLst>
          </p:cNvPr>
          <p:cNvSpPr txBox="1"/>
          <p:nvPr/>
        </p:nvSpPr>
        <p:spPr>
          <a:xfrm>
            <a:off x="4496147" y="2744152"/>
            <a:ext cx="3254895" cy="738664"/>
          </a:xfrm>
          <a:prstGeom prst="rect">
            <a:avLst/>
          </a:prstGeom>
          <a:noFill/>
        </p:spPr>
        <p:txBody>
          <a:bodyPr wrap="square" rtlCol="0">
            <a:spAutoFit/>
          </a:bodyPr>
          <a:lstStyle/>
          <a:p>
            <a:pPr algn="ctr"/>
            <a:r>
              <a:rPr lang="en-US" sz="1400" dirty="0"/>
              <a:t>Used to build a fast and modern user interface with efficient development</a:t>
            </a:r>
          </a:p>
          <a:p>
            <a:pPr algn="ctr"/>
            <a:r>
              <a:rPr lang="en-US" sz="1400" dirty="0"/>
              <a:t> and hot module replacement.</a:t>
            </a:r>
            <a:endParaRPr lang="en-IN" sz="1400" dirty="0"/>
          </a:p>
        </p:txBody>
      </p:sp>
      <p:sp>
        <p:nvSpPr>
          <p:cNvPr id="19" name="TextBox 18">
            <a:extLst>
              <a:ext uri="{FF2B5EF4-FFF2-40B4-BE49-F238E27FC236}">
                <a16:creationId xmlns:a16="http://schemas.microsoft.com/office/drawing/2014/main" id="{06FB38F3-B6AB-A1FE-C355-0E512B451B22}"/>
              </a:ext>
            </a:extLst>
          </p:cNvPr>
          <p:cNvSpPr txBox="1"/>
          <p:nvPr/>
        </p:nvSpPr>
        <p:spPr>
          <a:xfrm>
            <a:off x="8957703" y="2452896"/>
            <a:ext cx="1127616" cy="307777"/>
          </a:xfrm>
          <a:prstGeom prst="rect">
            <a:avLst/>
          </a:prstGeom>
          <a:noFill/>
        </p:spPr>
        <p:txBody>
          <a:bodyPr wrap="none" rtlCol="0">
            <a:spAutoFit/>
          </a:bodyPr>
          <a:lstStyle/>
          <a:p>
            <a:r>
              <a:rPr lang="en-IN" sz="1400" dirty="0"/>
              <a:t>Tailwind CSS </a:t>
            </a:r>
          </a:p>
        </p:txBody>
      </p:sp>
      <p:sp>
        <p:nvSpPr>
          <p:cNvPr id="20" name="TextBox 19">
            <a:extLst>
              <a:ext uri="{FF2B5EF4-FFF2-40B4-BE49-F238E27FC236}">
                <a16:creationId xmlns:a16="http://schemas.microsoft.com/office/drawing/2014/main" id="{CFE38BA7-DEC9-C934-CE23-EF0D70F813E9}"/>
              </a:ext>
            </a:extLst>
          </p:cNvPr>
          <p:cNvSpPr txBox="1"/>
          <p:nvPr/>
        </p:nvSpPr>
        <p:spPr>
          <a:xfrm>
            <a:off x="7884008" y="2832263"/>
            <a:ext cx="3330848" cy="523220"/>
          </a:xfrm>
          <a:prstGeom prst="rect">
            <a:avLst/>
          </a:prstGeom>
          <a:noFill/>
        </p:spPr>
        <p:txBody>
          <a:bodyPr wrap="none" rtlCol="0">
            <a:spAutoFit/>
          </a:bodyPr>
          <a:lstStyle/>
          <a:p>
            <a:pPr algn="ctr"/>
            <a:r>
              <a:rPr lang="en-US" sz="1400" dirty="0"/>
              <a:t>Utility-first CSS framework used</a:t>
            </a:r>
          </a:p>
          <a:p>
            <a:pPr algn="ctr"/>
            <a:r>
              <a:rPr lang="en-US" sz="1400" dirty="0"/>
              <a:t>for responsive and customizable UI styling.</a:t>
            </a:r>
            <a:endParaRPr lang="en-IN" sz="1400" dirty="0"/>
          </a:p>
        </p:txBody>
      </p:sp>
      <p:sp>
        <p:nvSpPr>
          <p:cNvPr id="21" name="TextBox 20">
            <a:extLst>
              <a:ext uri="{FF2B5EF4-FFF2-40B4-BE49-F238E27FC236}">
                <a16:creationId xmlns:a16="http://schemas.microsoft.com/office/drawing/2014/main" id="{D95DB56D-CE3E-25CF-17F8-E43F3960C8DB}"/>
              </a:ext>
            </a:extLst>
          </p:cNvPr>
          <p:cNvSpPr txBox="1"/>
          <p:nvPr/>
        </p:nvSpPr>
        <p:spPr>
          <a:xfrm>
            <a:off x="5435594" y="4362213"/>
            <a:ext cx="1166601" cy="307777"/>
          </a:xfrm>
          <a:prstGeom prst="rect">
            <a:avLst/>
          </a:prstGeom>
          <a:noFill/>
        </p:spPr>
        <p:txBody>
          <a:bodyPr wrap="none" rtlCol="0">
            <a:spAutoFit/>
          </a:bodyPr>
          <a:lstStyle/>
          <a:p>
            <a:r>
              <a:rPr lang="en-IN" sz="1400" dirty="0"/>
              <a:t>React Router </a:t>
            </a:r>
          </a:p>
        </p:txBody>
      </p:sp>
      <p:sp>
        <p:nvSpPr>
          <p:cNvPr id="23" name="TextBox 22">
            <a:extLst>
              <a:ext uri="{FF2B5EF4-FFF2-40B4-BE49-F238E27FC236}">
                <a16:creationId xmlns:a16="http://schemas.microsoft.com/office/drawing/2014/main" id="{47762B9C-E61D-C5C7-7C2C-3F700B9EDF7E}"/>
              </a:ext>
            </a:extLst>
          </p:cNvPr>
          <p:cNvSpPr txBox="1"/>
          <p:nvPr/>
        </p:nvSpPr>
        <p:spPr>
          <a:xfrm>
            <a:off x="4407675" y="4765441"/>
            <a:ext cx="3355213" cy="523220"/>
          </a:xfrm>
          <a:prstGeom prst="rect">
            <a:avLst/>
          </a:prstGeom>
          <a:noFill/>
        </p:spPr>
        <p:txBody>
          <a:bodyPr wrap="square" rtlCol="0">
            <a:spAutoFit/>
          </a:bodyPr>
          <a:lstStyle/>
          <a:p>
            <a:pPr algn="ctr"/>
            <a:r>
              <a:rPr lang="en-US" sz="1400" dirty="0"/>
              <a:t>Enables client-side routing and navigation between different pages in the application</a:t>
            </a:r>
            <a:r>
              <a:rPr lang="en-US" sz="1200" dirty="0"/>
              <a:t>.</a:t>
            </a:r>
            <a:endParaRPr lang="en-IN" sz="1200" dirty="0"/>
          </a:p>
        </p:txBody>
      </p:sp>
      <p:sp>
        <p:nvSpPr>
          <p:cNvPr id="24" name="TextBox 23">
            <a:extLst>
              <a:ext uri="{FF2B5EF4-FFF2-40B4-BE49-F238E27FC236}">
                <a16:creationId xmlns:a16="http://schemas.microsoft.com/office/drawing/2014/main" id="{84B73B21-B47F-3392-6168-1EA722A30D50}"/>
              </a:ext>
            </a:extLst>
          </p:cNvPr>
          <p:cNvSpPr txBox="1"/>
          <p:nvPr/>
        </p:nvSpPr>
        <p:spPr>
          <a:xfrm>
            <a:off x="9163848" y="4301118"/>
            <a:ext cx="946798" cy="307777"/>
          </a:xfrm>
          <a:prstGeom prst="rect">
            <a:avLst/>
          </a:prstGeom>
          <a:noFill/>
        </p:spPr>
        <p:txBody>
          <a:bodyPr wrap="none" rtlCol="0">
            <a:spAutoFit/>
          </a:bodyPr>
          <a:lstStyle/>
          <a:p>
            <a:r>
              <a:rPr lang="en-IN" sz="1400" dirty="0"/>
              <a:t>TypeScript</a:t>
            </a:r>
          </a:p>
        </p:txBody>
      </p:sp>
      <p:pic>
        <p:nvPicPr>
          <p:cNvPr id="1032" name="Picture 8">
            <a:extLst>
              <a:ext uri="{FF2B5EF4-FFF2-40B4-BE49-F238E27FC236}">
                <a16:creationId xmlns:a16="http://schemas.microsoft.com/office/drawing/2014/main" id="{B5D4BECA-554C-4860-0D8A-96AF716E405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067294" y="3399730"/>
            <a:ext cx="1077933" cy="1077933"/>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79F82407-8D17-01B8-A93E-24D160F8917B}"/>
              </a:ext>
            </a:extLst>
          </p:cNvPr>
          <p:cNvSpPr txBox="1"/>
          <p:nvPr/>
        </p:nvSpPr>
        <p:spPr>
          <a:xfrm>
            <a:off x="8069956" y="4724410"/>
            <a:ext cx="3241620" cy="584775"/>
          </a:xfrm>
          <a:prstGeom prst="rect">
            <a:avLst/>
          </a:prstGeom>
          <a:noFill/>
        </p:spPr>
        <p:txBody>
          <a:bodyPr wrap="square" rtlCol="0">
            <a:spAutoFit/>
          </a:bodyPr>
          <a:lstStyle/>
          <a:p>
            <a:pPr algn="ctr"/>
            <a:r>
              <a:rPr lang="en-US" sz="1400" dirty="0"/>
              <a:t>Provides static typing to improve code reliability, maintainability, and scalability</a:t>
            </a:r>
            <a:r>
              <a:rPr lang="en-US" dirty="0"/>
              <a:t>.</a:t>
            </a:r>
            <a:endParaRPr lang="en-IN" dirty="0"/>
          </a:p>
        </p:txBody>
      </p:sp>
      <p:sp>
        <p:nvSpPr>
          <p:cNvPr id="41" name="TextBox 40">
            <a:extLst>
              <a:ext uri="{FF2B5EF4-FFF2-40B4-BE49-F238E27FC236}">
                <a16:creationId xmlns:a16="http://schemas.microsoft.com/office/drawing/2014/main" id="{7D4485B4-2FF2-C2B6-A487-7C718161D037}"/>
              </a:ext>
            </a:extLst>
          </p:cNvPr>
          <p:cNvSpPr txBox="1"/>
          <p:nvPr/>
        </p:nvSpPr>
        <p:spPr>
          <a:xfrm>
            <a:off x="12098742" y="1008068"/>
            <a:ext cx="1552669" cy="461665"/>
          </a:xfrm>
          <a:prstGeom prst="rect">
            <a:avLst/>
          </a:prstGeom>
          <a:noFill/>
        </p:spPr>
        <p:txBody>
          <a:bodyPr wrap="none" rtlCol="0">
            <a:spAutoFit/>
          </a:bodyPr>
          <a:lstStyle/>
          <a:p>
            <a:r>
              <a:rPr lang="en-IN" sz="2400" b="1" dirty="0"/>
              <a:t>Tools Used</a:t>
            </a:r>
          </a:p>
        </p:txBody>
      </p:sp>
      <p:sp>
        <p:nvSpPr>
          <p:cNvPr id="42" name="Arrow: Chevron 41">
            <a:extLst>
              <a:ext uri="{FF2B5EF4-FFF2-40B4-BE49-F238E27FC236}">
                <a16:creationId xmlns:a16="http://schemas.microsoft.com/office/drawing/2014/main" id="{161676FC-339E-392F-BCA7-AAAD1CFD453E}"/>
              </a:ext>
            </a:extLst>
          </p:cNvPr>
          <p:cNvSpPr/>
          <p:nvPr/>
        </p:nvSpPr>
        <p:spPr>
          <a:xfrm>
            <a:off x="11792918" y="1157058"/>
            <a:ext cx="305824" cy="193952"/>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5" name="TextBox 44">
            <a:extLst>
              <a:ext uri="{FF2B5EF4-FFF2-40B4-BE49-F238E27FC236}">
                <a16:creationId xmlns:a16="http://schemas.microsoft.com/office/drawing/2014/main" id="{1B5600CF-058D-E5C1-BF1F-2A13529ECC4A}"/>
              </a:ext>
            </a:extLst>
          </p:cNvPr>
          <p:cNvSpPr txBox="1"/>
          <p:nvPr/>
        </p:nvSpPr>
        <p:spPr>
          <a:xfrm>
            <a:off x="11788038" y="3805610"/>
            <a:ext cx="2871019" cy="461665"/>
          </a:xfrm>
          <a:prstGeom prst="rect">
            <a:avLst/>
          </a:prstGeom>
          <a:noFill/>
        </p:spPr>
        <p:txBody>
          <a:bodyPr wrap="square" rtlCol="0">
            <a:spAutoFit/>
          </a:bodyPr>
          <a:lstStyle/>
          <a:p>
            <a:r>
              <a:rPr lang="en-US" sz="1200" dirty="0"/>
              <a:t>Dependency management and</a:t>
            </a:r>
          </a:p>
          <a:p>
            <a:r>
              <a:rPr lang="en-US" sz="1200" dirty="0"/>
              <a:t> project build tool.</a:t>
            </a:r>
            <a:endParaRPr lang="en-IN" sz="1200" dirty="0"/>
          </a:p>
        </p:txBody>
      </p:sp>
      <p:sp>
        <p:nvSpPr>
          <p:cNvPr id="7" name="TextBox 6">
            <a:extLst>
              <a:ext uri="{FF2B5EF4-FFF2-40B4-BE49-F238E27FC236}">
                <a16:creationId xmlns:a16="http://schemas.microsoft.com/office/drawing/2014/main" id="{148DFEA2-CCD2-61DD-BE10-E88705C8B2AE}"/>
              </a:ext>
            </a:extLst>
          </p:cNvPr>
          <p:cNvSpPr txBox="1"/>
          <p:nvPr/>
        </p:nvSpPr>
        <p:spPr>
          <a:xfrm>
            <a:off x="6432081" y="2502332"/>
            <a:ext cx="477695" cy="307777"/>
          </a:xfrm>
          <a:prstGeom prst="rect">
            <a:avLst/>
          </a:prstGeom>
          <a:noFill/>
        </p:spPr>
        <p:txBody>
          <a:bodyPr wrap="none" rtlCol="0">
            <a:spAutoFit/>
          </a:bodyPr>
          <a:lstStyle/>
          <a:p>
            <a:r>
              <a:rPr lang="en-IN" sz="1400" dirty="0"/>
              <a:t>Vite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0386F75-4965-9E60-449D-991C3EA6F1AA}"/>
              </a:ext>
            </a:extLst>
          </p:cNvPr>
          <p:cNvSpPr/>
          <p:nvPr/>
        </p:nvSpPr>
        <p:spPr>
          <a:xfrm>
            <a:off x="-3510" y="0"/>
            <a:ext cx="14633910" cy="8229600"/>
          </a:xfrm>
          <a:prstGeom prst="rect">
            <a:avLst/>
          </a:prstGeom>
          <a:solidFill>
            <a:srgbClr val="8CD6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1481584" y="590431"/>
            <a:ext cx="11667231" cy="704017"/>
          </a:xfrm>
          <a:prstGeom prst="rect">
            <a:avLst/>
          </a:prstGeom>
          <a:noFill/>
          <a:ln/>
        </p:spPr>
        <p:txBody>
          <a:bodyPr wrap="none" lIns="0" tIns="0" rIns="0" bIns="0" rtlCol="0" anchor="t"/>
          <a:lstStyle/>
          <a:p>
            <a:pPr marL="0" indent="0" algn="l">
              <a:lnSpc>
                <a:spcPts val="5500"/>
              </a:lnSpc>
              <a:buNone/>
            </a:pPr>
            <a:r>
              <a:rPr lang="en-US" sz="3600" dirty="0">
                <a:solidFill>
                  <a:srgbClr val="00002E"/>
                </a:solidFill>
                <a:latin typeface="Nunito Semi Bold" pitchFamily="34" charset="0"/>
                <a:ea typeface="Nunito Semi Bold" pitchFamily="34" charset="-122"/>
                <a:cs typeface="Nunito Semi Bold" pitchFamily="34" charset="-120"/>
              </a:rPr>
              <a:t>Key Features of Online Medication &amp;Prescription Tracker</a:t>
            </a:r>
            <a:endParaRPr lang="en-US" sz="3600" dirty="0"/>
          </a:p>
        </p:txBody>
      </p:sp>
      <p:pic>
        <p:nvPicPr>
          <p:cNvPr id="3" name="Image 0" descr="preencoded.png"/>
          <p:cNvPicPr>
            <a:picLocks noChangeAspect="1"/>
          </p:cNvPicPr>
          <p:nvPr/>
        </p:nvPicPr>
        <p:blipFill>
          <a:blip r:embed="rId3"/>
          <a:stretch>
            <a:fillRect/>
          </a:stretch>
        </p:blipFill>
        <p:spPr>
          <a:xfrm>
            <a:off x="1229736" y="2459117"/>
            <a:ext cx="1748195" cy="1748195"/>
          </a:xfrm>
          <a:prstGeom prst="rect">
            <a:avLst/>
          </a:prstGeom>
        </p:spPr>
      </p:pic>
      <p:sp>
        <p:nvSpPr>
          <p:cNvPr id="4" name="Text 1"/>
          <p:cNvSpPr/>
          <p:nvPr/>
        </p:nvSpPr>
        <p:spPr>
          <a:xfrm>
            <a:off x="837724" y="4524494"/>
            <a:ext cx="2844284" cy="351949"/>
          </a:xfrm>
          <a:prstGeom prst="rect">
            <a:avLst/>
          </a:prstGeom>
          <a:noFill/>
          <a:ln/>
        </p:spPr>
        <p:txBody>
          <a:bodyPr wrap="none" lIns="0" tIns="0" rIns="0" bIns="0" rtlCol="0" anchor="t"/>
          <a:lstStyle/>
          <a:p>
            <a:pPr marL="0" indent="0" algn="l">
              <a:lnSpc>
                <a:spcPts val="2750"/>
              </a:lnSpc>
              <a:buNone/>
            </a:pPr>
            <a:r>
              <a:rPr lang="en-US" sz="2200" dirty="0">
                <a:solidFill>
                  <a:srgbClr val="00002E"/>
                </a:solidFill>
                <a:latin typeface="Nunito Semi Bold" pitchFamily="34" charset="0"/>
                <a:ea typeface="Nunito Semi Bold" pitchFamily="34" charset="-122"/>
                <a:cs typeface="Nunito Semi Bold" pitchFamily="34" charset="-120"/>
              </a:rPr>
              <a:t>Secure Authentication</a:t>
            </a:r>
            <a:endParaRPr lang="en-US" sz="2200" dirty="0"/>
          </a:p>
        </p:txBody>
      </p:sp>
      <p:sp>
        <p:nvSpPr>
          <p:cNvPr id="5" name="Text 2"/>
          <p:cNvSpPr/>
          <p:nvPr/>
        </p:nvSpPr>
        <p:spPr>
          <a:xfrm>
            <a:off x="837724" y="5020032"/>
            <a:ext cx="3014305" cy="1915120"/>
          </a:xfrm>
          <a:prstGeom prst="rect">
            <a:avLst/>
          </a:prstGeom>
          <a:noFill/>
          <a:ln/>
        </p:spPr>
        <p:txBody>
          <a:bodyPr wrap="square" lIns="0" tIns="0" rIns="0" bIns="0" rtlCol="0" anchor="t"/>
          <a:lstStyle/>
          <a:p>
            <a:pPr marL="0" indent="0" algn="l">
              <a:lnSpc>
                <a:spcPts val="3000"/>
              </a:lnSpc>
              <a:buNone/>
            </a:pPr>
            <a:r>
              <a:rPr lang="en-US" sz="1850" dirty="0">
                <a:solidFill>
                  <a:srgbClr val="00002E"/>
                </a:solidFill>
                <a:latin typeface="PT Sans" pitchFamily="34" charset="0"/>
                <a:ea typeface="PT Sans" pitchFamily="34" charset="-122"/>
                <a:cs typeface="PT Sans" pitchFamily="34" charset="-120"/>
              </a:rPr>
              <a:t>JWT-based login with encrypted credentials and session management protecting sensitive health data.</a:t>
            </a:r>
            <a:endParaRPr lang="en-US" sz="1850" dirty="0"/>
          </a:p>
        </p:txBody>
      </p:sp>
      <p:pic>
        <p:nvPicPr>
          <p:cNvPr id="6" name="Image 1" descr="preencoded.png"/>
          <p:cNvPicPr>
            <a:picLocks noChangeAspect="1"/>
          </p:cNvPicPr>
          <p:nvPr/>
        </p:nvPicPr>
        <p:blipFill>
          <a:blip r:embed="rId4"/>
          <a:stretch>
            <a:fillRect/>
          </a:stretch>
        </p:blipFill>
        <p:spPr>
          <a:xfrm>
            <a:off x="4543245" y="2459116"/>
            <a:ext cx="1748195" cy="1748195"/>
          </a:xfrm>
          <a:prstGeom prst="rect">
            <a:avLst/>
          </a:prstGeom>
        </p:spPr>
      </p:pic>
      <p:sp>
        <p:nvSpPr>
          <p:cNvPr id="7" name="Text 3"/>
          <p:cNvSpPr/>
          <p:nvPr/>
        </p:nvSpPr>
        <p:spPr>
          <a:xfrm>
            <a:off x="4151233" y="4524494"/>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00002E"/>
                </a:solidFill>
                <a:latin typeface="Nunito Semi Bold" pitchFamily="34" charset="0"/>
                <a:ea typeface="Nunito Semi Bold" pitchFamily="34" charset="-122"/>
                <a:cs typeface="Nunito Semi Bold" pitchFamily="34" charset="-120"/>
              </a:rPr>
              <a:t>Medication Tracking</a:t>
            </a:r>
            <a:endParaRPr lang="en-US" sz="2200" dirty="0"/>
          </a:p>
        </p:txBody>
      </p:sp>
      <p:sp>
        <p:nvSpPr>
          <p:cNvPr id="8" name="Text 4"/>
          <p:cNvSpPr/>
          <p:nvPr/>
        </p:nvSpPr>
        <p:spPr>
          <a:xfrm>
            <a:off x="4151233" y="5020032"/>
            <a:ext cx="3014305" cy="1532096"/>
          </a:xfrm>
          <a:prstGeom prst="rect">
            <a:avLst/>
          </a:prstGeom>
          <a:noFill/>
          <a:ln/>
        </p:spPr>
        <p:txBody>
          <a:bodyPr wrap="square" lIns="0" tIns="0" rIns="0" bIns="0" rtlCol="0" anchor="t"/>
          <a:lstStyle/>
          <a:p>
            <a:pPr marL="0" indent="0" algn="l">
              <a:lnSpc>
                <a:spcPts val="3000"/>
              </a:lnSpc>
              <a:buNone/>
            </a:pPr>
            <a:r>
              <a:rPr lang="en-US" sz="1850" dirty="0">
                <a:solidFill>
                  <a:srgbClr val="00002E"/>
                </a:solidFill>
                <a:latin typeface="PT Sans" pitchFamily="34" charset="0"/>
                <a:ea typeface="PT Sans" pitchFamily="34" charset="-122"/>
                <a:cs typeface="PT Sans" pitchFamily="34" charset="-120"/>
              </a:rPr>
              <a:t>Visual calendar displaying daily medication schedules with dosage reminders and compliance tracking.</a:t>
            </a:r>
            <a:endParaRPr lang="en-US" sz="1850" dirty="0"/>
          </a:p>
        </p:txBody>
      </p:sp>
      <p:pic>
        <p:nvPicPr>
          <p:cNvPr id="9" name="Image 2" descr="preencoded.png"/>
          <p:cNvPicPr>
            <a:picLocks noChangeAspect="1"/>
          </p:cNvPicPr>
          <p:nvPr/>
        </p:nvPicPr>
        <p:blipFill>
          <a:blip r:embed="rId5"/>
          <a:stretch>
            <a:fillRect/>
          </a:stretch>
        </p:blipFill>
        <p:spPr>
          <a:xfrm>
            <a:off x="7856754" y="2477214"/>
            <a:ext cx="1748195" cy="1748195"/>
          </a:xfrm>
          <a:prstGeom prst="rect">
            <a:avLst/>
          </a:prstGeom>
        </p:spPr>
      </p:pic>
      <p:sp>
        <p:nvSpPr>
          <p:cNvPr id="10" name="Text 5"/>
          <p:cNvSpPr/>
          <p:nvPr/>
        </p:nvSpPr>
        <p:spPr>
          <a:xfrm>
            <a:off x="7216080" y="4536102"/>
            <a:ext cx="3511629" cy="703898"/>
          </a:xfrm>
          <a:prstGeom prst="rect">
            <a:avLst/>
          </a:prstGeom>
          <a:noFill/>
          <a:ln/>
        </p:spPr>
        <p:txBody>
          <a:bodyPr wrap="square" lIns="0" tIns="0" rIns="0" bIns="0" rtlCol="0" anchor="t"/>
          <a:lstStyle/>
          <a:p>
            <a:pPr marL="0" indent="0" algn="l">
              <a:lnSpc>
                <a:spcPts val="2750"/>
              </a:lnSpc>
              <a:buNone/>
            </a:pPr>
            <a:r>
              <a:rPr lang="en-US" sz="2200" dirty="0">
                <a:solidFill>
                  <a:srgbClr val="00002E"/>
                </a:solidFill>
                <a:latin typeface="Nunito Semi Bold" pitchFamily="34" charset="0"/>
                <a:ea typeface="Nunito Semi Bold" pitchFamily="34" charset="-122"/>
                <a:cs typeface="Nunito Semi Bold" pitchFamily="34" charset="-120"/>
              </a:rPr>
              <a:t>Prescription Management</a:t>
            </a:r>
            <a:endParaRPr lang="en-US" sz="2200" dirty="0"/>
          </a:p>
        </p:txBody>
      </p:sp>
      <p:sp>
        <p:nvSpPr>
          <p:cNvPr id="11" name="Text 6"/>
          <p:cNvSpPr/>
          <p:nvPr/>
        </p:nvSpPr>
        <p:spPr>
          <a:xfrm>
            <a:off x="7414200" y="4954161"/>
            <a:ext cx="3014305" cy="1532096"/>
          </a:xfrm>
          <a:prstGeom prst="rect">
            <a:avLst/>
          </a:prstGeom>
          <a:noFill/>
          <a:ln/>
        </p:spPr>
        <p:txBody>
          <a:bodyPr wrap="square" lIns="0" tIns="0" rIns="0" bIns="0" rtlCol="0" anchor="t"/>
          <a:lstStyle/>
          <a:p>
            <a:pPr marL="0" indent="0" algn="l">
              <a:lnSpc>
                <a:spcPts val="3000"/>
              </a:lnSpc>
              <a:buNone/>
            </a:pPr>
            <a:r>
              <a:rPr lang="en-US" sz="1850" dirty="0">
                <a:solidFill>
                  <a:srgbClr val="00002E"/>
                </a:solidFill>
                <a:latin typeface="PT Sans" pitchFamily="34" charset="0"/>
                <a:ea typeface="PT Sans" pitchFamily="34" charset="-122"/>
                <a:cs typeface="PT Sans" pitchFamily="34" charset="-120"/>
              </a:rPr>
              <a:t>Doctors can create, update, and revoke prescriptions with real-time notifications to patients.</a:t>
            </a:r>
            <a:endParaRPr lang="en-US" sz="1850" dirty="0"/>
          </a:p>
        </p:txBody>
      </p:sp>
      <p:pic>
        <p:nvPicPr>
          <p:cNvPr id="12" name="Image 3" descr="preencoded.png"/>
          <p:cNvPicPr>
            <a:picLocks noChangeAspect="1"/>
          </p:cNvPicPr>
          <p:nvPr/>
        </p:nvPicPr>
        <p:blipFill>
          <a:blip r:embed="rId6"/>
          <a:stretch>
            <a:fillRect/>
          </a:stretch>
        </p:blipFill>
        <p:spPr>
          <a:xfrm>
            <a:off x="11370704" y="2477095"/>
            <a:ext cx="1748314" cy="1748314"/>
          </a:xfrm>
          <a:prstGeom prst="rect">
            <a:avLst/>
          </a:prstGeom>
        </p:spPr>
      </p:pic>
      <p:sp>
        <p:nvSpPr>
          <p:cNvPr id="13" name="Text 7"/>
          <p:cNvSpPr/>
          <p:nvPr/>
        </p:nvSpPr>
        <p:spPr>
          <a:xfrm>
            <a:off x="11370704" y="4524613"/>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00002E"/>
                </a:solidFill>
                <a:latin typeface="Nunito Semi Bold" pitchFamily="34" charset="0"/>
                <a:ea typeface="Nunito Semi Bold" pitchFamily="34" charset="-122"/>
                <a:cs typeface="Nunito Semi Bold" pitchFamily="34" charset="-120"/>
              </a:rPr>
              <a:t>Refill Requests</a:t>
            </a:r>
            <a:endParaRPr lang="en-US" sz="2200" dirty="0"/>
          </a:p>
        </p:txBody>
      </p:sp>
      <p:sp>
        <p:nvSpPr>
          <p:cNvPr id="14" name="Text 8"/>
          <p:cNvSpPr/>
          <p:nvPr/>
        </p:nvSpPr>
        <p:spPr>
          <a:xfrm>
            <a:off x="11370704" y="5020151"/>
            <a:ext cx="3014424" cy="1532096"/>
          </a:xfrm>
          <a:prstGeom prst="rect">
            <a:avLst/>
          </a:prstGeom>
          <a:noFill/>
          <a:ln/>
        </p:spPr>
        <p:txBody>
          <a:bodyPr wrap="square" lIns="0" tIns="0" rIns="0" bIns="0" rtlCol="0" anchor="t"/>
          <a:lstStyle/>
          <a:p>
            <a:pPr marL="0" indent="0" algn="l">
              <a:lnSpc>
                <a:spcPts val="3000"/>
              </a:lnSpc>
              <a:buNone/>
            </a:pPr>
            <a:r>
              <a:rPr lang="en-US" sz="1850" dirty="0">
                <a:solidFill>
                  <a:srgbClr val="00002E"/>
                </a:solidFill>
                <a:latin typeface="PT Sans" pitchFamily="34" charset="0"/>
                <a:ea typeface="PT Sans" pitchFamily="34" charset="-122"/>
                <a:cs typeface="PT Sans" pitchFamily="34" charset="-120"/>
              </a:rPr>
              <a:t>Patients initiate refill requests that route through approval workflows to doctors and pharmacies.</a:t>
            </a:r>
            <a:endParaRPr lang="en-US" sz="1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86CBF-8330-14B2-97D0-D08D81D31E6E}"/>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CA3538B8-CD91-9E6A-DB07-8DAE075ADF67}"/>
              </a:ext>
            </a:extLst>
          </p:cNvPr>
          <p:cNvSpPr/>
          <p:nvPr/>
        </p:nvSpPr>
        <p:spPr>
          <a:xfrm>
            <a:off x="0" y="11151"/>
            <a:ext cx="14633910" cy="8229600"/>
          </a:xfrm>
          <a:prstGeom prst="rect">
            <a:avLst/>
          </a:prstGeom>
          <a:solidFill>
            <a:srgbClr val="8CD6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5400" dirty="0">
              <a:solidFill>
                <a:schemeClr val="tx1"/>
              </a:solidFill>
            </a:endParaRPr>
          </a:p>
        </p:txBody>
      </p:sp>
      <p:sp>
        <p:nvSpPr>
          <p:cNvPr id="2" name="Text 0">
            <a:extLst>
              <a:ext uri="{FF2B5EF4-FFF2-40B4-BE49-F238E27FC236}">
                <a16:creationId xmlns:a16="http://schemas.microsoft.com/office/drawing/2014/main" id="{37A09798-169A-B0D1-69DB-22BD7F24F60F}"/>
              </a:ext>
            </a:extLst>
          </p:cNvPr>
          <p:cNvSpPr/>
          <p:nvPr/>
        </p:nvSpPr>
        <p:spPr>
          <a:xfrm>
            <a:off x="6509904" y="3863072"/>
            <a:ext cx="1421964" cy="503456"/>
          </a:xfrm>
          <a:prstGeom prst="rect">
            <a:avLst/>
          </a:prstGeom>
          <a:noFill/>
          <a:ln/>
        </p:spPr>
        <p:txBody>
          <a:bodyPr wrap="none" lIns="0" tIns="0" rIns="0" bIns="0" rtlCol="0" anchor="t"/>
          <a:lstStyle/>
          <a:p>
            <a:pPr marL="0" indent="0" algn="l">
              <a:lnSpc>
                <a:spcPts val="3250"/>
              </a:lnSpc>
              <a:buNone/>
            </a:pPr>
            <a:endParaRPr lang="en-US" sz="6000" b="1" dirty="0"/>
          </a:p>
        </p:txBody>
      </p:sp>
      <p:sp>
        <p:nvSpPr>
          <p:cNvPr id="3" name="TextBox 2">
            <a:extLst>
              <a:ext uri="{FF2B5EF4-FFF2-40B4-BE49-F238E27FC236}">
                <a16:creationId xmlns:a16="http://schemas.microsoft.com/office/drawing/2014/main" id="{A4D9D94D-68FF-ADAD-DD72-EAE1FECBE898}"/>
              </a:ext>
            </a:extLst>
          </p:cNvPr>
          <p:cNvSpPr txBox="1"/>
          <p:nvPr/>
        </p:nvSpPr>
        <p:spPr>
          <a:xfrm>
            <a:off x="6050334" y="801979"/>
            <a:ext cx="2353529" cy="646331"/>
          </a:xfrm>
          <a:prstGeom prst="rect">
            <a:avLst/>
          </a:prstGeom>
          <a:noFill/>
        </p:spPr>
        <p:txBody>
          <a:bodyPr wrap="none" rtlCol="0">
            <a:spAutoFit/>
          </a:bodyPr>
          <a:lstStyle/>
          <a:p>
            <a:r>
              <a:rPr lang="en-IN" sz="3600" dirty="0"/>
              <a:t>AI Features</a:t>
            </a:r>
          </a:p>
        </p:txBody>
      </p:sp>
      <p:sp>
        <p:nvSpPr>
          <p:cNvPr id="4" name="TextBox 3">
            <a:extLst>
              <a:ext uri="{FF2B5EF4-FFF2-40B4-BE49-F238E27FC236}">
                <a16:creationId xmlns:a16="http://schemas.microsoft.com/office/drawing/2014/main" id="{B530D6C1-A934-0C5D-E5B6-15B709491D2E}"/>
              </a:ext>
            </a:extLst>
          </p:cNvPr>
          <p:cNvSpPr txBox="1"/>
          <p:nvPr/>
        </p:nvSpPr>
        <p:spPr>
          <a:xfrm>
            <a:off x="1196690" y="3616665"/>
            <a:ext cx="3736896" cy="2862322"/>
          </a:xfrm>
          <a:prstGeom prst="rect">
            <a:avLst/>
          </a:prstGeom>
          <a:noFill/>
        </p:spPr>
        <p:txBody>
          <a:bodyPr wrap="square" rtlCol="0">
            <a:spAutoFit/>
          </a:bodyPr>
          <a:lstStyle/>
          <a:p>
            <a:r>
              <a:rPr lang="en-US" b="1" dirty="0"/>
              <a:t>1. AI Chatbot Support</a:t>
            </a:r>
          </a:p>
          <a:p>
            <a:r>
              <a:rPr lang="en-US" dirty="0"/>
              <a:t>The system includes an AI-powered chatbot to assist users with medical-related queries </a:t>
            </a:r>
          </a:p>
          <a:p>
            <a:r>
              <a:rPr lang="en-US" dirty="0"/>
              <a:t>Provides instant responses about medicines, dosage, and general health guidance </a:t>
            </a:r>
          </a:p>
          <a:p>
            <a:r>
              <a:rPr lang="en-US" dirty="0"/>
              <a:t>Reduces dependency on manual support and improves accessibility </a:t>
            </a:r>
          </a:p>
          <a:p>
            <a:endParaRPr lang="en-IN" dirty="0"/>
          </a:p>
        </p:txBody>
      </p:sp>
      <p:sp>
        <p:nvSpPr>
          <p:cNvPr id="5" name="TextBox 4">
            <a:extLst>
              <a:ext uri="{FF2B5EF4-FFF2-40B4-BE49-F238E27FC236}">
                <a16:creationId xmlns:a16="http://schemas.microsoft.com/office/drawing/2014/main" id="{A8332EBA-FD44-2B27-5B96-824E917AF12D}"/>
              </a:ext>
            </a:extLst>
          </p:cNvPr>
          <p:cNvSpPr txBox="1"/>
          <p:nvPr/>
        </p:nvSpPr>
        <p:spPr>
          <a:xfrm>
            <a:off x="6080437" y="3579693"/>
            <a:ext cx="3202612" cy="2308324"/>
          </a:xfrm>
          <a:prstGeom prst="rect">
            <a:avLst/>
          </a:prstGeom>
          <a:noFill/>
        </p:spPr>
        <p:txBody>
          <a:bodyPr wrap="square" rtlCol="0">
            <a:spAutoFit/>
          </a:bodyPr>
          <a:lstStyle/>
          <a:p>
            <a:r>
              <a:rPr lang="en-US" b="1" dirty="0"/>
              <a:t>2. </a:t>
            </a:r>
            <a:r>
              <a:rPr lang="en-US" b="1" dirty="0" err="1"/>
              <a:t>Groq</a:t>
            </a:r>
            <a:r>
              <a:rPr lang="en-US" b="1" dirty="0"/>
              <a:t> API Integration</a:t>
            </a:r>
          </a:p>
          <a:p>
            <a:r>
              <a:rPr lang="en-US" dirty="0"/>
              <a:t>The chatbot is powered using the </a:t>
            </a:r>
            <a:r>
              <a:rPr lang="en-US" b="1" dirty="0" err="1"/>
              <a:t>Groq</a:t>
            </a:r>
            <a:r>
              <a:rPr lang="en-US" b="1" dirty="0"/>
              <a:t> API</a:t>
            </a:r>
            <a:r>
              <a:rPr lang="en-US" dirty="0"/>
              <a:t> with </a:t>
            </a:r>
            <a:r>
              <a:rPr lang="en-US" dirty="0" err="1"/>
              <a:t>LLaMA</a:t>
            </a:r>
            <a:r>
              <a:rPr lang="en-US" dirty="0"/>
              <a:t> model </a:t>
            </a:r>
          </a:p>
          <a:p>
            <a:r>
              <a:rPr lang="en-US" dirty="0"/>
              <a:t>Enables fast and efficient response generation </a:t>
            </a:r>
          </a:p>
          <a:p>
            <a:r>
              <a:rPr lang="en-US" dirty="0"/>
              <a:t>Ensures real-time interaction with users</a:t>
            </a:r>
          </a:p>
          <a:p>
            <a:endParaRPr lang="en-IN" dirty="0"/>
          </a:p>
        </p:txBody>
      </p:sp>
      <p:sp>
        <p:nvSpPr>
          <p:cNvPr id="6" name="TextBox 5">
            <a:extLst>
              <a:ext uri="{FF2B5EF4-FFF2-40B4-BE49-F238E27FC236}">
                <a16:creationId xmlns:a16="http://schemas.microsoft.com/office/drawing/2014/main" id="{4209E181-5B43-BE36-B2C1-B6328AACD4CE}"/>
              </a:ext>
            </a:extLst>
          </p:cNvPr>
          <p:cNvSpPr txBox="1"/>
          <p:nvPr/>
        </p:nvSpPr>
        <p:spPr>
          <a:xfrm>
            <a:off x="10721557" y="3616665"/>
            <a:ext cx="3057525" cy="2585323"/>
          </a:xfrm>
          <a:prstGeom prst="rect">
            <a:avLst/>
          </a:prstGeom>
          <a:noFill/>
        </p:spPr>
        <p:txBody>
          <a:bodyPr wrap="square" rtlCol="0">
            <a:spAutoFit/>
          </a:bodyPr>
          <a:lstStyle/>
          <a:p>
            <a:r>
              <a:rPr lang="en-US" b="1" dirty="0"/>
              <a:t>3. Intelligent Query Handling</a:t>
            </a:r>
          </a:p>
          <a:p>
            <a:r>
              <a:rPr lang="en-US" dirty="0"/>
              <a:t>Understands user questions in natural language </a:t>
            </a:r>
          </a:p>
          <a:p>
            <a:r>
              <a:rPr lang="en-US" dirty="0"/>
              <a:t>Provides relevant and context-aware responses </a:t>
            </a:r>
          </a:p>
          <a:p>
            <a:r>
              <a:rPr lang="en-US" dirty="0"/>
              <a:t>Helps users get quick information without searching manually </a:t>
            </a:r>
          </a:p>
          <a:p>
            <a:endParaRPr lang="en-IN" dirty="0"/>
          </a:p>
        </p:txBody>
      </p:sp>
      <p:sp>
        <p:nvSpPr>
          <p:cNvPr id="7" name="TextBox 6">
            <a:extLst>
              <a:ext uri="{FF2B5EF4-FFF2-40B4-BE49-F238E27FC236}">
                <a16:creationId xmlns:a16="http://schemas.microsoft.com/office/drawing/2014/main" id="{0D02915E-9AEC-5CB5-C5D2-8AF4DCD0A1FC}"/>
              </a:ext>
            </a:extLst>
          </p:cNvPr>
          <p:cNvSpPr txBox="1"/>
          <p:nvPr/>
        </p:nvSpPr>
        <p:spPr>
          <a:xfrm>
            <a:off x="3717344" y="1971145"/>
            <a:ext cx="7861889" cy="923330"/>
          </a:xfrm>
          <a:prstGeom prst="rect">
            <a:avLst/>
          </a:prstGeom>
          <a:noFill/>
        </p:spPr>
        <p:txBody>
          <a:bodyPr wrap="square" rtlCol="0">
            <a:spAutoFit/>
          </a:bodyPr>
          <a:lstStyle/>
          <a:p>
            <a:r>
              <a:rPr lang="en-US" dirty="0"/>
              <a:t>The </a:t>
            </a:r>
            <a:r>
              <a:rPr lang="en-US" b="1" dirty="0"/>
              <a:t>Online Medication &amp; Prescription Tracker</a:t>
            </a:r>
            <a:r>
              <a:rPr lang="en-US" dirty="0"/>
              <a:t> integrates Artificial Intelligence to enhance user experience and provide intelligent healthcare support.</a:t>
            </a:r>
          </a:p>
          <a:p>
            <a:endParaRPr lang="en-IN" dirty="0"/>
          </a:p>
        </p:txBody>
      </p:sp>
    </p:spTree>
    <p:extLst>
      <p:ext uri="{BB962C8B-B14F-4D97-AF65-F5344CB8AC3E}">
        <p14:creationId xmlns:p14="http://schemas.microsoft.com/office/powerpoint/2010/main" val="577305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4D4914EB-B8C9-31BD-4140-DD232CE00B83}"/>
              </a:ext>
            </a:extLst>
          </p:cNvPr>
          <p:cNvSpPr/>
          <p:nvPr/>
        </p:nvSpPr>
        <p:spPr>
          <a:xfrm>
            <a:off x="-3510" y="0"/>
            <a:ext cx="14633910" cy="8229600"/>
          </a:xfrm>
          <a:prstGeom prst="rect">
            <a:avLst/>
          </a:prstGeom>
          <a:solidFill>
            <a:srgbClr val="8CD6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 0"/>
          <p:cNvSpPr/>
          <p:nvPr/>
        </p:nvSpPr>
        <p:spPr>
          <a:xfrm>
            <a:off x="1458232" y="527417"/>
            <a:ext cx="10445560" cy="367070"/>
          </a:xfrm>
          <a:prstGeom prst="rect">
            <a:avLst/>
          </a:prstGeom>
          <a:noFill/>
          <a:ln/>
        </p:spPr>
        <p:txBody>
          <a:bodyPr wrap="none" lIns="0" tIns="0" rIns="0" bIns="0" rtlCol="0" anchor="t"/>
          <a:lstStyle/>
          <a:p>
            <a:pPr>
              <a:lnSpc>
                <a:spcPts val="2850"/>
              </a:lnSpc>
            </a:pPr>
            <a:r>
              <a:rPr lang="en-US" sz="2800" dirty="0">
                <a:solidFill>
                  <a:srgbClr val="00002E"/>
                </a:solidFill>
                <a:latin typeface="Nunito Semi Bold" pitchFamily="34" charset="0"/>
                <a:ea typeface="Nunito Semi Bold" pitchFamily="34" charset="-122"/>
                <a:cs typeface="Nunito Semi Bold" pitchFamily="34" charset="-120"/>
              </a:rPr>
              <a:t>Database Design &amp; API Structure of Online Medication &amp;Prescription Tracker</a:t>
            </a:r>
            <a:endParaRPr lang="en-US" sz="2800" dirty="0"/>
          </a:p>
        </p:txBody>
      </p:sp>
      <p:sp>
        <p:nvSpPr>
          <p:cNvPr id="3" name="Text 1"/>
          <p:cNvSpPr/>
          <p:nvPr/>
        </p:nvSpPr>
        <p:spPr>
          <a:xfrm>
            <a:off x="1184344" y="1553647"/>
            <a:ext cx="2639438" cy="304203"/>
          </a:xfrm>
          <a:prstGeom prst="rect">
            <a:avLst/>
          </a:prstGeom>
          <a:noFill/>
          <a:ln/>
        </p:spPr>
        <p:txBody>
          <a:bodyPr wrap="none" lIns="0" tIns="0" rIns="0" bIns="0" rtlCol="0" anchor="t"/>
          <a:lstStyle/>
          <a:p>
            <a:pPr marL="0" indent="0" algn="l">
              <a:lnSpc>
                <a:spcPts val="1700"/>
              </a:lnSpc>
              <a:buNone/>
            </a:pPr>
            <a:r>
              <a:rPr lang="en-US" sz="2000" b="1" dirty="0">
                <a:solidFill>
                  <a:srgbClr val="00002E"/>
                </a:solidFill>
                <a:latin typeface="Nunito Semi Bold" pitchFamily="34" charset="0"/>
                <a:ea typeface="Nunito Semi Bold" pitchFamily="34" charset="-122"/>
                <a:cs typeface="Nunito Semi Bold" pitchFamily="34" charset="-120"/>
              </a:rPr>
              <a:t>Core Collections</a:t>
            </a:r>
            <a:endParaRPr lang="en-US" sz="2000" b="1" dirty="0"/>
          </a:p>
        </p:txBody>
      </p:sp>
      <p:sp>
        <p:nvSpPr>
          <p:cNvPr id="4" name="Shape 2"/>
          <p:cNvSpPr/>
          <p:nvPr/>
        </p:nvSpPr>
        <p:spPr>
          <a:xfrm>
            <a:off x="1164923" y="1925882"/>
            <a:ext cx="3626135" cy="1191458"/>
          </a:xfrm>
          <a:prstGeom prst="roundRect">
            <a:avLst>
              <a:gd name="adj" fmla="val 7284"/>
            </a:avLst>
          </a:prstGeom>
          <a:solidFill>
            <a:srgbClr val="F3F3FF">
              <a:alpha val="75000"/>
            </a:srgbClr>
          </a:solidFill>
          <a:ln/>
        </p:spPr>
      </p:sp>
      <p:sp>
        <p:nvSpPr>
          <p:cNvPr id="5" name="Shape 3"/>
          <p:cNvSpPr/>
          <p:nvPr/>
        </p:nvSpPr>
        <p:spPr>
          <a:xfrm>
            <a:off x="1175367" y="1900084"/>
            <a:ext cx="3626135" cy="115967"/>
          </a:xfrm>
          <a:prstGeom prst="roundRect">
            <a:avLst>
              <a:gd name="adj" fmla="val 307170"/>
            </a:avLst>
          </a:prstGeom>
          <a:solidFill>
            <a:srgbClr val="2D4DF2"/>
          </a:solidFill>
          <a:ln/>
        </p:spPr>
      </p:sp>
      <p:sp>
        <p:nvSpPr>
          <p:cNvPr id="6" name="Shape 4"/>
          <p:cNvSpPr/>
          <p:nvPr/>
        </p:nvSpPr>
        <p:spPr>
          <a:xfrm>
            <a:off x="2827375" y="1795130"/>
            <a:ext cx="374452" cy="374452"/>
          </a:xfrm>
          <a:prstGeom prst="roundRect">
            <a:avLst>
              <a:gd name="adj" fmla="val 244197"/>
            </a:avLst>
          </a:prstGeom>
          <a:solidFill>
            <a:srgbClr val="2D4DF2"/>
          </a:solidFill>
          <a:ln/>
        </p:spPr>
      </p:sp>
      <p:sp>
        <p:nvSpPr>
          <p:cNvPr id="7" name="Text 5"/>
          <p:cNvSpPr/>
          <p:nvPr/>
        </p:nvSpPr>
        <p:spPr>
          <a:xfrm>
            <a:off x="2976528" y="1891535"/>
            <a:ext cx="149781" cy="187166"/>
          </a:xfrm>
          <a:prstGeom prst="rect">
            <a:avLst/>
          </a:prstGeom>
          <a:noFill/>
          <a:ln/>
        </p:spPr>
        <p:txBody>
          <a:bodyPr wrap="none" lIns="0" tIns="0" rIns="0" bIns="0" rtlCol="0" anchor="t"/>
          <a:lstStyle/>
          <a:p>
            <a:pPr marL="0" indent="0" algn="l">
              <a:lnSpc>
                <a:spcPts val="1400"/>
              </a:lnSpc>
              <a:buNone/>
            </a:pPr>
            <a:r>
              <a:rPr lang="en-US" sz="1150" dirty="0">
                <a:solidFill>
                  <a:srgbClr val="FFFFFF"/>
                </a:solidFill>
                <a:latin typeface="Nunito Semi Bold" pitchFamily="34" charset="0"/>
                <a:ea typeface="Nunito Semi Bold" pitchFamily="34" charset="-122"/>
                <a:cs typeface="Nunito Semi Bold" pitchFamily="34" charset="-120"/>
              </a:rPr>
              <a:t>1</a:t>
            </a:r>
            <a:endParaRPr lang="en-US" sz="1150" dirty="0"/>
          </a:p>
        </p:txBody>
      </p:sp>
      <p:sp>
        <p:nvSpPr>
          <p:cNvPr id="8" name="Text 6"/>
          <p:cNvSpPr/>
          <p:nvPr/>
        </p:nvSpPr>
        <p:spPr>
          <a:xfrm>
            <a:off x="1326079" y="2263488"/>
            <a:ext cx="1468636" cy="183594"/>
          </a:xfrm>
          <a:prstGeom prst="rect">
            <a:avLst/>
          </a:prstGeom>
          <a:noFill/>
          <a:ln/>
        </p:spPr>
        <p:txBody>
          <a:bodyPr wrap="none" lIns="0" tIns="0" rIns="0" bIns="0" rtlCol="0" anchor="t"/>
          <a:lstStyle/>
          <a:p>
            <a:pPr marL="0" indent="0" algn="l">
              <a:lnSpc>
                <a:spcPts val="1400"/>
              </a:lnSpc>
              <a:buNone/>
            </a:pPr>
            <a:r>
              <a:rPr lang="en-US" sz="1400" dirty="0">
                <a:solidFill>
                  <a:srgbClr val="00002E"/>
                </a:solidFill>
                <a:latin typeface="Nunito Semi Bold" pitchFamily="34" charset="0"/>
                <a:ea typeface="Nunito Semi Bold" pitchFamily="34" charset="-122"/>
                <a:cs typeface="Nunito Semi Bold" pitchFamily="34" charset="-120"/>
              </a:rPr>
              <a:t>Users</a:t>
            </a:r>
            <a:endParaRPr lang="en-US" sz="1400" dirty="0"/>
          </a:p>
        </p:txBody>
      </p:sp>
      <p:sp>
        <p:nvSpPr>
          <p:cNvPr id="9" name="Text 7"/>
          <p:cNvSpPr/>
          <p:nvPr/>
        </p:nvSpPr>
        <p:spPr>
          <a:xfrm>
            <a:off x="1326079" y="2601741"/>
            <a:ext cx="3186791" cy="445413"/>
          </a:xfrm>
          <a:prstGeom prst="rect">
            <a:avLst/>
          </a:prstGeom>
          <a:noFill/>
          <a:ln/>
        </p:spPr>
        <p:txBody>
          <a:bodyPr wrap="square" lIns="0" tIns="0" rIns="0" bIns="0" rtlCol="0" anchor="t"/>
          <a:lstStyle/>
          <a:p>
            <a:pPr marL="0" indent="0" algn="l">
              <a:lnSpc>
                <a:spcPts val="1150"/>
              </a:lnSpc>
              <a:buNone/>
            </a:pPr>
            <a:r>
              <a:rPr lang="en-US" sz="1200" dirty="0">
                <a:solidFill>
                  <a:srgbClr val="00002E"/>
                </a:solidFill>
                <a:latin typeface="PT Sans" pitchFamily="34" charset="0"/>
                <a:ea typeface="PT Sans" pitchFamily="34" charset="-122"/>
                <a:cs typeface="PT Sans" pitchFamily="34" charset="-120"/>
              </a:rPr>
              <a:t>User profiles with role-based permissions and authentication credentials.</a:t>
            </a:r>
            <a:endParaRPr lang="en-US" sz="1200" dirty="0"/>
          </a:p>
        </p:txBody>
      </p:sp>
      <p:sp>
        <p:nvSpPr>
          <p:cNvPr id="10" name="Shape 8"/>
          <p:cNvSpPr/>
          <p:nvPr/>
        </p:nvSpPr>
        <p:spPr>
          <a:xfrm>
            <a:off x="1154478" y="3381328"/>
            <a:ext cx="3622447" cy="1167065"/>
          </a:xfrm>
          <a:prstGeom prst="roundRect">
            <a:avLst>
              <a:gd name="adj" fmla="val 7284"/>
            </a:avLst>
          </a:prstGeom>
          <a:solidFill>
            <a:srgbClr val="F3F3FF">
              <a:alpha val="75000"/>
            </a:srgbClr>
          </a:solidFill>
          <a:ln/>
        </p:spPr>
      </p:sp>
      <p:sp>
        <p:nvSpPr>
          <p:cNvPr id="11" name="Shape 9"/>
          <p:cNvSpPr/>
          <p:nvPr/>
        </p:nvSpPr>
        <p:spPr>
          <a:xfrm>
            <a:off x="1144798" y="3375623"/>
            <a:ext cx="3635816" cy="115967"/>
          </a:xfrm>
          <a:prstGeom prst="roundRect">
            <a:avLst>
              <a:gd name="adj" fmla="val 307170"/>
            </a:avLst>
          </a:prstGeom>
          <a:solidFill>
            <a:srgbClr val="2D4DF2"/>
          </a:solidFill>
          <a:ln>
            <a:solidFill>
              <a:srgbClr val="2D4DF2"/>
            </a:solidFill>
          </a:ln>
        </p:spPr>
      </p:sp>
      <p:sp>
        <p:nvSpPr>
          <p:cNvPr id="12" name="Shape 10"/>
          <p:cNvSpPr/>
          <p:nvPr/>
        </p:nvSpPr>
        <p:spPr>
          <a:xfrm>
            <a:off x="2816303" y="3239762"/>
            <a:ext cx="374452" cy="374452"/>
          </a:xfrm>
          <a:prstGeom prst="roundRect">
            <a:avLst>
              <a:gd name="adj" fmla="val 244197"/>
            </a:avLst>
          </a:prstGeom>
          <a:solidFill>
            <a:srgbClr val="2D4DF2"/>
          </a:solidFill>
          <a:ln/>
        </p:spPr>
      </p:sp>
      <p:sp>
        <p:nvSpPr>
          <p:cNvPr id="13" name="Text 11"/>
          <p:cNvSpPr/>
          <p:nvPr/>
        </p:nvSpPr>
        <p:spPr>
          <a:xfrm>
            <a:off x="2956023" y="3352158"/>
            <a:ext cx="149781" cy="187166"/>
          </a:xfrm>
          <a:prstGeom prst="rect">
            <a:avLst/>
          </a:prstGeom>
          <a:noFill/>
          <a:ln/>
        </p:spPr>
        <p:txBody>
          <a:bodyPr wrap="none" lIns="0" tIns="0" rIns="0" bIns="0" rtlCol="0" anchor="t"/>
          <a:lstStyle/>
          <a:p>
            <a:pPr marL="0" indent="0" algn="l">
              <a:lnSpc>
                <a:spcPts val="1400"/>
              </a:lnSpc>
              <a:buNone/>
            </a:pPr>
            <a:r>
              <a:rPr lang="en-US" sz="1150" dirty="0">
                <a:solidFill>
                  <a:srgbClr val="FFFFFF"/>
                </a:solidFill>
                <a:latin typeface="Nunito Semi Bold" pitchFamily="34" charset="0"/>
                <a:ea typeface="Nunito Semi Bold" pitchFamily="34" charset="-122"/>
                <a:cs typeface="Nunito Semi Bold" pitchFamily="34" charset="-120"/>
              </a:rPr>
              <a:t>2</a:t>
            </a:r>
            <a:endParaRPr lang="en-US" sz="1150" dirty="0"/>
          </a:p>
        </p:txBody>
      </p:sp>
      <p:sp>
        <p:nvSpPr>
          <p:cNvPr id="14" name="Text 12"/>
          <p:cNvSpPr/>
          <p:nvPr/>
        </p:nvSpPr>
        <p:spPr>
          <a:xfrm>
            <a:off x="1312600" y="3749677"/>
            <a:ext cx="1468636" cy="183594"/>
          </a:xfrm>
          <a:prstGeom prst="rect">
            <a:avLst/>
          </a:prstGeom>
          <a:noFill/>
          <a:ln/>
        </p:spPr>
        <p:txBody>
          <a:bodyPr wrap="none" lIns="0" tIns="0" rIns="0" bIns="0" rtlCol="0" anchor="t"/>
          <a:lstStyle/>
          <a:p>
            <a:pPr marL="0" indent="0" algn="l">
              <a:lnSpc>
                <a:spcPts val="1400"/>
              </a:lnSpc>
              <a:buNone/>
            </a:pPr>
            <a:r>
              <a:rPr lang="en-US" sz="1400" dirty="0">
                <a:solidFill>
                  <a:srgbClr val="00002E"/>
                </a:solidFill>
                <a:latin typeface="Nunito Semi Bold" pitchFamily="34" charset="0"/>
                <a:ea typeface="Nunito Semi Bold" pitchFamily="34" charset="-122"/>
                <a:cs typeface="Nunito Semi Bold" pitchFamily="34" charset="-120"/>
              </a:rPr>
              <a:t>Medications</a:t>
            </a:r>
            <a:endParaRPr lang="en-US" sz="1400" dirty="0"/>
          </a:p>
        </p:txBody>
      </p:sp>
      <p:sp>
        <p:nvSpPr>
          <p:cNvPr id="15" name="Text 13"/>
          <p:cNvSpPr/>
          <p:nvPr/>
        </p:nvSpPr>
        <p:spPr>
          <a:xfrm>
            <a:off x="1324422" y="4048779"/>
            <a:ext cx="3178004" cy="320635"/>
          </a:xfrm>
          <a:prstGeom prst="rect">
            <a:avLst/>
          </a:prstGeom>
          <a:noFill/>
          <a:ln/>
        </p:spPr>
        <p:txBody>
          <a:bodyPr wrap="square" lIns="0" tIns="0" rIns="0" bIns="0" rtlCol="0" anchor="t"/>
          <a:lstStyle/>
          <a:p>
            <a:pPr marL="0" indent="0" algn="l">
              <a:lnSpc>
                <a:spcPts val="1150"/>
              </a:lnSpc>
              <a:buNone/>
            </a:pPr>
            <a:r>
              <a:rPr lang="en-US" sz="1200" dirty="0">
                <a:solidFill>
                  <a:srgbClr val="00002E"/>
                </a:solidFill>
                <a:latin typeface="PT Sans" pitchFamily="34" charset="0"/>
                <a:ea typeface="PT Sans" pitchFamily="34" charset="-122"/>
                <a:cs typeface="PT Sans" pitchFamily="34" charset="-120"/>
              </a:rPr>
              <a:t>Drug catalogue with dosage information, schedules, and patient-specific instructions</a:t>
            </a:r>
            <a:r>
              <a:rPr lang="en-US" sz="950" dirty="0">
                <a:solidFill>
                  <a:srgbClr val="00002E"/>
                </a:solidFill>
                <a:latin typeface="PT Sans" pitchFamily="34" charset="0"/>
                <a:ea typeface="PT Sans" pitchFamily="34" charset="-122"/>
                <a:cs typeface="PT Sans" pitchFamily="34" charset="-120"/>
              </a:rPr>
              <a:t>.</a:t>
            </a:r>
            <a:endParaRPr lang="en-US" sz="950" dirty="0"/>
          </a:p>
        </p:txBody>
      </p:sp>
      <p:sp>
        <p:nvSpPr>
          <p:cNvPr id="16" name="Shape 14"/>
          <p:cNvSpPr/>
          <p:nvPr/>
        </p:nvSpPr>
        <p:spPr>
          <a:xfrm>
            <a:off x="1154479" y="4761905"/>
            <a:ext cx="3626135" cy="1171339"/>
          </a:xfrm>
          <a:prstGeom prst="roundRect">
            <a:avLst>
              <a:gd name="adj" fmla="val 7284"/>
            </a:avLst>
          </a:prstGeom>
          <a:solidFill>
            <a:srgbClr val="F3F3FF">
              <a:alpha val="75000"/>
            </a:srgbClr>
          </a:solidFill>
          <a:ln/>
        </p:spPr>
      </p:sp>
      <p:sp>
        <p:nvSpPr>
          <p:cNvPr id="17" name="Shape 15"/>
          <p:cNvSpPr/>
          <p:nvPr/>
        </p:nvSpPr>
        <p:spPr>
          <a:xfrm>
            <a:off x="1141841" y="4759908"/>
            <a:ext cx="3648486" cy="115967"/>
          </a:xfrm>
          <a:prstGeom prst="roundRect">
            <a:avLst>
              <a:gd name="adj" fmla="val 307170"/>
            </a:avLst>
          </a:prstGeom>
          <a:solidFill>
            <a:srgbClr val="2D4DF2"/>
          </a:solidFill>
          <a:ln/>
        </p:spPr>
      </p:sp>
      <p:sp>
        <p:nvSpPr>
          <p:cNvPr id="18" name="Shape 16"/>
          <p:cNvSpPr/>
          <p:nvPr/>
        </p:nvSpPr>
        <p:spPr>
          <a:xfrm>
            <a:off x="2826364" y="4627245"/>
            <a:ext cx="374452" cy="374452"/>
          </a:xfrm>
          <a:prstGeom prst="roundRect">
            <a:avLst>
              <a:gd name="adj" fmla="val 244197"/>
            </a:avLst>
          </a:prstGeom>
          <a:solidFill>
            <a:srgbClr val="2D4DF2"/>
          </a:solidFill>
          <a:ln/>
        </p:spPr>
      </p:sp>
      <p:sp>
        <p:nvSpPr>
          <p:cNvPr id="19" name="Text 17"/>
          <p:cNvSpPr/>
          <p:nvPr/>
        </p:nvSpPr>
        <p:spPr>
          <a:xfrm>
            <a:off x="2966084" y="4720828"/>
            <a:ext cx="149781" cy="187166"/>
          </a:xfrm>
          <a:prstGeom prst="rect">
            <a:avLst/>
          </a:prstGeom>
          <a:noFill/>
          <a:ln/>
        </p:spPr>
        <p:txBody>
          <a:bodyPr wrap="none" lIns="0" tIns="0" rIns="0" bIns="0" rtlCol="0" anchor="t"/>
          <a:lstStyle/>
          <a:p>
            <a:pPr marL="0" indent="0" algn="l">
              <a:lnSpc>
                <a:spcPts val="1400"/>
              </a:lnSpc>
              <a:buNone/>
            </a:pPr>
            <a:r>
              <a:rPr lang="en-US" sz="1150" dirty="0">
                <a:solidFill>
                  <a:srgbClr val="FFFFFF"/>
                </a:solidFill>
                <a:latin typeface="Nunito Semi Bold" pitchFamily="34" charset="0"/>
                <a:ea typeface="Nunito Semi Bold" pitchFamily="34" charset="-122"/>
                <a:cs typeface="Nunito Semi Bold" pitchFamily="34" charset="-120"/>
              </a:rPr>
              <a:t>3</a:t>
            </a:r>
            <a:endParaRPr lang="en-US" sz="1150" dirty="0"/>
          </a:p>
        </p:txBody>
      </p:sp>
      <p:sp>
        <p:nvSpPr>
          <p:cNvPr id="20" name="Text 18"/>
          <p:cNvSpPr/>
          <p:nvPr/>
        </p:nvSpPr>
        <p:spPr>
          <a:xfrm>
            <a:off x="1324422" y="5095994"/>
            <a:ext cx="1468636" cy="183594"/>
          </a:xfrm>
          <a:prstGeom prst="rect">
            <a:avLst/>
          </a:prstGeom>
          <a:noFill/>
          <a:ln/>
        </p:spPr>
        <p:txBody>
          <a:bodyPr wrap="none" lIns="0" tIns="0" rIns="0" bIns="0" rtlCol="0" anchor="t"/>
          <a:lstStyle/>
          <a:p>
            <a:pPr marL="0" indent="0" algn="l">
              <a:lnSpc>
                <a:spcPts val="1400"/>
              </a:lnSpc>
              <a:buNone/>
            </a:pPr>
            <a:r>
              <a:rPr lang="en-US" sz="1400" dirty="0">
                <a:solidFill>
                  <a:srgbClr val="00002E"/>
                </a:solidFill>
                <a:latin typeface="Nunito Semi Bold" pitchFamily="34" charset="0"/>
                <a:ea typeface="Nunito Semi Bold" pitchFamily="34" charset="-122"/>
                <a:cs typeface="Nunito Semi Bold" pitchFamily="34" charset="-120"/>
              </a:rPr>
              <a:t>Prescriptions</a:t>
            </a:r>
            <a:endParaRPr lang="en-US" sz="1400" dirty="0"/>
          </a:p>
        </p:txBody>
      </p:sp>
      <p:sp>
        <p:nvSpPr>
          <p:cNvPr id="21" name="Text 19"/>
          <p:cNvSpPr/>
          <p:nvPr/>
        </p:nvSpPr>
        <p:spPr>
          <a:xfrm>
            <a:off x="1315635" y="5392864"/>
            <a:ext cx="3178004" cy="299530"/>
          </a:xfrm>
          <a:prstGeom prst="rect">
            <a:avLst/>
          </a:prstGeom>
          <a:noFill/>
          <a:ln/>
        </p:spPr>
        <p:txBody>
          <a:bodyPr wrap="square" lIns="0" tIns="0" rIns="0" bIns="0" rtlCol="0" anchor="t"/>
          <a:lstStyle/>
          <a:p>
            <a:pPr marL="0" indent="0" algn="l">
              <a:lnSpc>
                <a:spcPts val="1150"/>
              </a:lnSpc>
              <a:buNone/>
            </a:pPr>
            <a:r>
              <a:rPr lang="en-US" sz="1200" dirty="0">
                <a:solidFill>
                  <a:srgbClr val="00002E"/>
                </a:solidFill>
                <a:latin typeface="PT Sans" pitchFamily="34" charset="0"/>
                <a:ea typeface="PT Sans" pitchFamily="34" charset="-122"/>
                <a:cs typeface="PT Sans" pitchFamily="34" charset="-120"/>
              </a:rPr>
              <a:t>Active and historical prescriptions linking doctors, patients, and medications.</a:t>
            </a:r>
            <a:endParaRPr lang="en-US" sz="1200" dirty="0"/>
          </a:p>
        </p:txBody>
      </p:sp>
      <p:sp>
        <p:nvSpPr>
          <p:cNvPr id="22" name="Shape 20"/>
          <p:cNvSpPr/>
          <p:nvPr/>
        </p:nvSpPr>
        <p:spPr>
          <a:xfrm>
            <a:off x="1164923" y="6172735"/>
            <a:ext cx="3582199" cy="1171339"/>
          </a:xfrm>
          <a:prstGeom prst="roundRect">
            <a:avLst>
              <a:gd name="adj" fmla="val 7284"/>
            </a:avLst>
          </a:prstGeom>
          <a:solidFill>
            <a:srgbClr val="F3F3FF">
              <a:alpha val="75000"/>
            </a:srgbClr>
          </a:solidFill>
          <a:ln/>
        </p:spPr>
      </p:sp>
      <p:sp>
        <p:nvSpPr>
          <p:cNvPr id="23" name="Shape 21"/>
          <p:cNvSpPr/>
          <p:nvPr/>
        </p:nvSpPr>
        <p:spPr>
          <a:xfrm>
            <a:off x="1164923" y="6146755"/>
            <a:ext cx="3615691" cy="118609"/>
          </a:xfrm>
          <a:prstGeom prst="roundRect">
            <a:avLst>
              <a:gd name="adj" fmla="val 307170"/>
            </a:avLst>
          </a:prstGeom>
          <a:solidFill>
            <a:srgbClr val="2D4DF2"/>
          </a:solidFill>
          <a:ln/>
        </p:spPr>
      </p:sp>
      <p:sp>
        <p:nvSpPr>
          <p:cNvPr id="24" name="Shape 22"/>
          <p:cNvSpPr/>
          <p:nvPr/>
        </p:nvSpPr>
        <p:spPr>
          <a:xfrm>
            <a:off x="2816931" y="6023992"/>
            <a:ext cx="374452" cy="374452"/>
          </a:xfrm>
          <a:prstGeom prst="roundRect">
            <a:avLst>
              <a:gd name="adj" fmla="val 244197"/>
            </a:avLst>
          </a:prstGeom>
          <a:solidFill>
            <a:srgbClr val="2D4DF2"/>
          </a:solidFill>
          <a:ln/>
        </p:spPr>
      </p:sp>
      <p:sp>
        <p:nvSpPr>
          <p:cNvPr id="25" name="Text 23"/>
          <p:cNvSpPr/>
          <p:nvPr/>
        </p:nvSpPr>
        <p:spPr>
          <a:xfrm>
            <a:off x="2956115" y="6117576"/>
            <a:ext cx="149781" cy="187166"/>
          </a:xfrm>
          <a:prstGeom prst="rect">
            <a:avLst/>
          </a:prstGeom>
          <a:noFill/>
          <a:ln/>
        </p:spPr>
        <p:txBody>
          <a:bodyPr wrap="none" lIns="0" tIns="0" rIns="0" bIns="0" rtlCol="0" anchor="t"/>
          <a:lstStyle/>
          <a:p>
            <a:pPr marL="0" indent="0" algn="l">
              <a:lnSpc>
                <a:spcPts val="1400"/>
              </a:lnSpc>
              <a:buNone/>
            </a:pPr>
            <a:r>
              <a:rPr lang="en-US" sz="1150" dirty="0">
                <a:solidFill>
                  <a:srgbClr val="FFFFFF"/>
                </a:solidFill>
                <a:latin typeface="Nunito Semi Bold" pitchFamily="34" charset="0"/>
                <a:ea typeface="Nunito Semi Bold" pitchFamily="34" charset="-122"/>
                <a:cs typeface="Nunito Semi Bold" pitchFamily="34" charset="-120"/>
              </a:rPr>
              <a:t>4</a:t>
            </a:r>
            <a:endParaRPr lang="en-US" sz="1150" dirty="0"/>
          </a:p>
        </p:txBody>
      </p:sp>
      <p:sp>
        <p:nvSpPr>
          <p:cNvPr id="26" name="Text 24"/>
          <p:cNvSpPr/>
          <p:nvPr/>
        </p:nvSpPr>
        <p:spPr>
          <a:xfrm>
            <a:off x="1315635" y="6490918"/>
            <a:ext cx="1468636" cy="183594"/>
          </a:xfrm>
          <a:prstGeom prst="rect">
            <a:avLst/>
          </a:prstGeom>
          <a:noFill/>
          <a:ln/>
        </p:spPr>
        <p:txBody>
          <a:bodyPr wrap="none" lIns="0" tIns="0" rIns="0" bIns="0" rtlCol="0" anchor="t"/>
          <a:lstStyle/>
          <a:p>
            <a:pPr marL="0" indent="0" algn="l">
              <a:lnSpc>
                <a:spcPts val="1400"/>
              </a:lnSpc>
              <a:buNone/>
            </a:pPr>
            <a:r>
              <a:rPr lang="en-US" sz="1400" dirty="0">
                <a:solidFill>
                  <a:srgbClr val="00002E"/>
                </a:solidFill>
                <a:latin typeface="Nunito Semi Bold" pitchFamily="34" charset="0"/>
                <a:ea typeface="Nunito Semi Bold" pitchFamily="34" charset="-122"/>
                <a:cs typeface="Nunito Semi Bold" pitchFamily="34" charset="-120"/>
              </a:rPr>
              <a:t>Refill Requests</a:t>
            </a:r>
            <a:endParaRPr lang="en-US" sz="1400" dirty="0"/>
          </a:p>
        </p:txBody>
      </p:sp>
      <p:sp>
        <p:nvSpPr>
          <p:cNvPr id="27" name="Text 25"/>
          <p:cNvSpPr/>
          <p:nvPr/>
        </p:nvSpPr>
        <p:spPr>
          <a:xfrm>
            <a:off x="1315635" y="6867213"/>
            <a:ext cx="3178004" cy="303609"/>
          </a:xfrm>
          <a:prstGeom prst="rect">
            <a:avLst/>
          </a:prstGeom>
          <a:noFill/>
          <a:ln/>
        </p:spPr>
        <p:txBody>
          <a:bodyPr wrap="square" lIns="0" tIns="0" rIns="0" bIns="0" rtlCol="0" anchor="t"/>
          <a:lstStyle/>
          <a:p>
            <a:pPr marL="0" indent="0" algn="l">
              <a:lnSpc>
                <a:spcPts val="1150"/>
              </a:lnSpc>
              <a:buNone/>
            </a:pPr>
            <a:r>
              <a:rPr lang="en-US" sz="1200" dirty="0">
                <a:solidFill>
                  <a:srgbClr val="00002E"/>
                </a:solidFill>
                <a:latin typeface="PT Sans" pitchFamily="34" charset="0"/>
                <a:ea typeface="PT Sans" pitchFamily="34" charset="-122"/>
                <a:cs typeface="PT Sans" pitchFamily="34" charset="-120"/>
              </a:rPr>
              <a:t>Transaction records tracking refill status from request to fulfillment.</a:t>
            </a:r>
            <a:endParaRPr lang="en-US" sz="1200" dirty="0"/>
          </a:p>
        </p:txBody>
      </p:sp>
      <p:sp>
        <p:nvSpPr>
          <p:cNvPr id="28" name="Text 26"/>
          <p:cNvSpPr/>
          <p:nvPr/>
        </p:nvSpPr>
        <p:spPr>
          <a:xfrm>
            <a:off x="6249364" y="2472767"/>
            <a:ext cx="2361666" cy="277499"/>
          </a:xfrm>
          <a:prstGeom prst="rect">
            <a:avLst/>
          </a:prstGeom>
          <a:noFill/>
          <a:ln/>
        </p:spPr>
        <p:txBody>
          <a:bodyPr wrap="none" lIns="0" tIns="0" rIns="0" bIns="0" rtlCol="0" anchor="t"/>
          <a:lstStyle/>
          <a:p>
            <a:pPr marL="0" indent="0" algn="l">
              <a:lnSpc>
                <a:spcPts val="1700"/>
              </a:lnSpc>
              <a:buNone/>
            </a:pPr>
            <a:r>
              <a:rPr lang="en-US" sz="2000" b="1" dirty="0">
                <a:solidFill>
                  <a:srgbClr val="00002E"/>
                </a:solidFill>
                <a:latin typeface="Nunito Semi Bold" pitchFamily="34" charset="0"/>
                <a:ea typeface="Nunito Semi Bold" pitchFamily="34" charset="-122"/>
                <a:cs typeface="Nunito Semi Bold" pitchFamily="34" charset="-120"/>
              </a:rPr>
              <a:t>REST API Endpoints</a:t>
            </a:r>
            <a:endParaRPr lang="en-US" sz="2000" b="1" dirty="0"/>
          </a:p>
        </p:txBody>
      </p:sp>
      <p:sp>
        <p:nvSpPr>
          <p:cNvPr id="29" name="Text 27"/>
          <p:cNvSpPr/>
          <p:nvPr/>
        </p:nvSpPr>
        <p:spPr>
          <a:xfrm>
            <a:off x="5287752" y="2748850"/>
            <a:ext cx="4371437" cy="3519204"/>
          </a:xfrm>
          <a:prstGeom prst="rect">
            <a:avLst/>
          </a:prstGeom>
          <a:noFill/>
          <a:ln/>
        </p:spPr>
        <p:txBody>
          <a:bodyPr wrap="square" lIns="0" tIns="0" rIns="0" bIns="0" rtlCol="0" anchor="t"/>
          <a:lstStyle/>
          <a:p>
            <a:pPr marL="342900" indent="-342900" algn="l">
              <a:lnSpc>
                <a:spcPts val="1150"/>
              </a:lnSpc>
              <a:buSzPct val="100000"/>
              <a:buChar char="•"/>
            </a:pPr>
            <a:endParaRPr lang="en-US" sz="2400" b="1" dirty="0">
              <a:solidFill>
                <a:srgbClr val="00002E"/>
              </a:solidFill>
              <a:latin typeface="PT Sans" pitchFamily="34" charset="0"/>
              <a:ea typeface="PT Sans" pitchFamily="34" charset="-122"/>
              <a:cs typeface="PT Sans" pitchFamily="34" charset="-120"/>
            </a:endParaRPr>
          </a:p>
          <a:p>
            <a:pPr algn="l">
              <a:lnSpc>
                <a:spcPts val="1150"/>
              </a:lnSpc>
              <a:buSzPct val="100000"/>
            </a:pPr>
            <a:endParaRPr lang="en-US" sz="2400" b="1" dirty="0">
              <a:solidFill>
                <a:srgbClr val="00002E"/>
              </a:solidFill>
              <a:latin typeface="PT Sans" pitchFamily="34" charset="0"/>
              <a:ea typeface="PT Sans" pitchFamily="34" charset="-122"/>
              <a:cs typeface="PT Sans" pitchFamily="34" charset="-120"/>
            </a:endParaRPr>
          </a:p>
          <a:p>
            <a:pPr algn="l">
              <a:lnSpc>
                <a:spcPts val="1150"/>
              </a:lnSpc>
              <a:buSzPct val="100000"/>
            </a:pPr>
            <a:endParaRPr lang="en-US" sz="2400" b="1" dirty="0">
              <a:solidFill>
                <a:srgbClr val="00002E"/>
              </a:solidFill>
              <a:latin typeface="PT Sans" pitchFamily="34" charset="0"/>
              <a:ea typeface="PT Sans" pitchFamily="34" charset="-122"/>
              <a:cs typeface="PT Sans" pitchFamily="34" charset="-120"/>
            </a:endParaRPr>
          </a:p>
          <a:p>
            <a:pPr algn="l">
              <a:lnSpc>
                <a:spcPts val="1150"/>
              </a:lnSpc>
              <a:buSzPct val="100000"/>
            </a:pPr>
            <a:r>
              <a:rPr lang="en-US" sz="2400" b="1" dirty="0">
                <a:solidFill>
                  <a:srgbClr val="00002E"/>
                </a:solidFill>
                <a:latin typeface="PT Sans" pitchFamily="34" charset="0"/>
                <a:ea typeface="PT Sans" pitchFamily="34" charset="-122"/>
                <a:cs typeface="PT Sans" pitchFamily="34" charset="-120"/>
              </a:rPr>
              <a:t>    POST /API/auth/login</a:t>
            </a:r>
            <a:r>
              <a:rPr lang="en-US" sz="2400" dirty="0">
                <a:solidFill>
                  <a:srgbClr val="00002E"/>
                </a:solidFill>
                <a:latin typeface="PT Sans" pitchFamily="34" charset="0"/>
                <a:ea typeface="PT Sans" pitchFamily="34" charset="-122"/>
                <a:cs typeface="PT Sans" pitchFamily="34" charset="-120"/>
              </a:rPr>
              <a:t> – JWT</a:t>
            </a:r>
          </a:p>
          <a:p>
            <a:pPr algn="l">
              <a:lnSpc>
                <a:spcPts val="1150"/>
              </a:lnSpc>
              <a:buSzPct val="100000"/>
            </a:pPr>
            <a:r>
              <a:rPr lang="en-US" sz="2400" dirty="0">
                <a:solidFill>
                  <a:srgbClr val="00002E"/>
                </a:solidFill>
                <a:latin typeface="PT Sans" pitchFamily="34" charset="0"/>
                <a:ea typeface="PT Sans" pitchFamily="34" charset="-122"/>
                <a:cs typeface="PT Sans" pitchFamily="34" charset="-120"/>
              </a:rPr>
              <a:t> </a:t>
            </a:r>
          </a:p>
          <a:p>
            <a:pPr algn="l">
              <a:lnSpc>
                <a:spcPts val="1150"/>
              </a:lnSpc>
              <a:buSzPct val="100000"/>
            </a:pPr>
            <a:r>
              <a:rPr lang="en-US" sz="2400" dirty="0">
                <a:solidFill>
                  <a:srgbClr val="00002E"/>
                </a:solidFill>
                <a:latin typeface="PT Sans" pitchFamily="34" charset="0"/>
                <a:ea typeface="PT Sans" pitchFamily="34" charset="-122"/>
                <a:cs typeface="PT Sans" pitchFamily="34" charset="-120"/>
              </a:rPr>
              <a:t>    token generation</a:t>
            </a:r>
          </a:p>
          <a:p>
            <a:pPr marL="342900" indent="-342900" algn="l">
              <a:lnSpc>
                <a:spcPts val="1150"/>
              </a:lnSpc>
              <a:buSzPct val="100000"/>
              <a:buChar char="•"/>
            </a:pPr>
            <a:endParaRPr lang="en-US" sz="2400" dirty="0">
              <a:solidFill>
                <a:srgbClr val="00002E"/>
              </a:solidFill>
              <a:latin typeface="PT Sans" pitchFamily="34" charset="0"/>
              <a:ea typeface="PT Sans" pitchFamily="34" charset="-122"/>
              <a:cs typeface="PT Sans" pitchFamily="34" charset="-120"/>
            </a:endParaRPr>
          </a:p>
          <a:p>
            <a:pPr algn="l">
              <a:lnSpc>
                <a:spcPts val="1150"/>
              </a:lnSpc>
              <a:buSzPct val="100000"/>
            </a:pPr>
            <a:endParaRPr lang="en-US" sz="2400" dirty="0">
              <a:solidFill>
                <a:srgbClr val="00002E"/>
              </a:solidFill>
              <a:latin typeface="PT Sans" pitchFamily="34" charset="0"/>
              <a:ea typeface="PT Sans" pitchFamily="34" charset="-122"/>
              <a:cs typeface="PT Sans" pitchFamily="34" charset="-120"/>
            </a:endParaRPr>
          </a:p>
          <a:p>
            <a:pPr marL="342900" indent="-342900" algn="l">
              <a:lnSpc>
                <a:spcPts val="1150"/>
              </a:lnSpc>
              <a:buSzPct val="100000"/>
              <a:buChar char="•"/>
            </a:pPr>
            <a:endParaRPr lang="en-US" sz="2400" dirty="0"/>
          </a:p>
          <a:p>
            <a:pPr algn="l">
              <a:lnSpc>
                <a:spcPts val="1150"/>
              </a:lnSpc>
              <a:buSzPct val="100000"/>
            </a:pPr>
            <a:r>
              <a:rPr lang="en-US" sz="2400" b="1" dirty="0">
                <a:solidFill>
                  <a:srgbClr val="00002E"/>
                </a:solidFill>
                <a:latin typeface="PT Sans" pitchFamily="34" charset="0"/>
                <a:ea typeface="PT Sans" pitchFamily="34" charset="-122"/>
                <a:cs typeface="PT Sans" pitchFamily="34" charset="-120"/>
              </a:rPr>
              <a:t>    GET /API/medications</a:t>
            </a:r>
            <a:r>
              <a:rPr lang="en-US" sz="2400" dirty="0">
                <a:solidFill>
                  <a:srgbClr val="00002E"/>
                </a:solidFill>
                <a:latin typeface="PT Sans" pitchFamily="34" charset="0"/>
                <a:ea typeface="PT Sans" pitchFamily="34" charset="-122"/>
                <a:cs typeface="PT Sans" pitchFamily="34" charset="-120"/>
              </a:rPr>
              <a:t> - User </a:t>
            </a:r>
          </a:p>
          <a:p>
            <a:pPr marL="342900" indent="-342900" algn="l">
              <a:lnSpc>
                <a:spcPts val="1150"/>
              </a:lnSpc>
              <a:buSzPct val="100000"/>
              <a:buChar char="•"/>
            </a:pPr>
            <a:endParaRPr lang="en-US" sz="2400" dirty="0">
              <a:solidFill>
                <a:srgbClr val="00002E"/>
              </a:solidFill>
              <a:latin typeface="PT Sans" pitchFamily="34" charset="0"/>
              <a:ea typeface="PT Sans" pitchFamily="34" charset="-122"/>
              <a:cs typeface="PT Sans" pitchFamily="34" charset="-120"/>
            </a:endParaRPr>
          </a:p>
          <a:p>
            <a:pPr algn="l">
              <a:lnSpc>
                <a:spcPts val="1150"/>
              </a:lnSpc>
              <a:buSzPct val="100000"/>
            </a:pPr>
            <a:r>
              <a:rPr lang="en-US" sz="2400" dirty="0">
                <a:solidFill>
                  <a:srgbClr val="00002E"/>
                </a:solidFill>
                <a:latin typeface="PT Sans" pitchFamily="34" charset="0"/>
                <a:ea typeface="PT Sans" pitchFamily="34" charset="-122"/>
                <a:cs typeface="PT Sans" pitchFamily="34" charset="-120"/>
              </a:rPr>
              <a:t>    medication list</a:t>
            </a:r>
          </a:p>
          <a:p>
            <a:pPr marL="342900" indent="-342900" algn="l">
              <a:lnSpc>
                <a:spcPts val="1150"/>
              </a:lnSpc>
              <a:buSzPct val="100000"/>
              <a:buChar char="•"/>
            </a:pPr>
            <a:endParaRPr lang="en-US" sz="2400" dirty="0">
              <a:solidFill>
                <a:srgbClr val="00002E"/>
              </a:solidFill>
              <a:latin typeface="PT Sans" pitchFamily="34" charset="0"/>
            </a:endParaRPr>
          </a:p>
          <a:p>
            <a:pPr marL="342900" indent="-342900" algn="l">
              <a:lnSpc>
                <a:spcPts val="1150"/>
              </a:lnSpc>
              <a:buSzPct val="100000"/>
              <a:buChar char="•"/>
            </a:pPr>
            <a:endParaRPr lang="en-US" sz="2400" dirty="0"/>
          </a:p>
          <a:p>
            <a:pPr algn="l">
              <a:lnSpc>
                <a:spcPts val="1150"/>
              </a:lnSpc>
              <a:buSzPct val="100000"/>
            </a:pPr>
            <a:r>
              <a:rPr lang="en-US" sz="2400" b="1" dirty="0">
                <a:solidFill>
                  <a:srgbClr val="00002E"/>
                </a:solidFill>
                <a:latin typeface="PT Sans" pitchFamily="34" charset="0"/>
                <a:ea typeface="PT Sans" pitchFamily="34" charset="-122"/>
                <a:cs typeface="PT Sans" pitchFamily="34" charset="-120"/>
              </a:rPr>
              <a:t>    POST /API/prescriptions</a:t>
            </a:r>
            <a:r>
              <a:rPr lang="en-US" sz="2400" dirty="0">
                <a:solidFill>
                  <a:srgbClr val="00002E"/>
                </a:solidFill>
                <a:latin typeface="PT Sans" pitchFamily="34" charset="0"/>
                <a:ea typeface="PT Sans" pitchFamily="34" charset="-122"/>
                <a:cs typeface="PT Sans" pitchFamily="34" charset="-120"/>
              </a:rPr>
              <a:t> - New </a:t>
            </a:r>
          </a:p>
          <a:p>
            <a:pPr marL="342900" indent="-342900" algn="l">
              <a:lnSpc>
                <a:spcPts val="1150"/>
              </a:lnSpc>
              <a:buSzPct val="100000"/>
              <a:buChar char="•"/>
            </a:pPr>
            <a:endParaRPr lang="en-US" sz="2400" dirty="0">
              <a:solidFill>
                <a:srgbClr val="00002E"/>
              </a:solidFill>
              <a:latin typeface="PT Sans" pitchFamily="34" charset="0"/>
              <a:ea typeface="PT Sans" pitchFamily="34" charset="-122"/>
              <a:cs typeface="PT Sans" pitchFamily="34" charset="-120"/>
            </a:endParaRPr>
          </a:p>
          <a:p>
            <a:pPr algn="l">
              <a:lnSpc>
                <a:spcPts val="1150"/>
              </a:lnSpc>
              <a:buSzPct val="100000"/>
            </a:pPr>
            <a:r>
              <a:rPr lang="en-US" sz="2400" dirty="0">
                <a:solidFill>
                  <a:srgbClr val="00002E"/>
                </a:solidFill>
                <a:latin typeface="PT Sans" pitchFamily="34" charset="0"/>
                <a:ea typeface="PT Sans" pitchFamily="34" charset="-122"/>
                <a:cs typeface="PT Sans" pitchFamily="34" charset="-120"/>
              </a:rPr>
              <a:t>    prescription creation</a:t>
            </a:r>
          </a:p>
          <a:p>
            <a:pPr marL="342900" indent="-342900" algn="l">
              <a:lnSpc>
                <a:spcPts val="1150"/>
              </a:lnSpc>
              <a:buSzPct val="100000"/>
              <a:buChar char="•"/>
            </a:pPr>
            <a:endParaRPr lang="en-US" sz="2400" dirty="0">
              <a:solidFill>
                <a:srgbClr val="00002E"/>
              </a:solidFill>
              <a:latin typeface="PT Sans" pitchFamily="34" charset="0"/>
            </a:endParaRPr>
          </a:p>
          <a:p>
            <a:pPr marL="342900" indent="-342900" algn="l">
              <a:lnSpc>
                <a:spcPts val="1150"/>
              </a:lnSpc>
              <a:buSzPct val="100000"/>
              <a:buChar char="•"/>
            </a:pPr>
            <a:endParaRPr lang="en-US" sz="2400" dirty="0"/>
          </a:p>
          <a:p>
            <a:pPr algn="l">
              <a:lnSpc>
                <a:spcPts val="1150"/>
              </a:lnSpc>
              <a:buSzPct val="100000"/>
            </a:pPr>
            <a:r>
              <a:rPr lang="en-US" sz="2400" b="1" dirty="0">
                <a:solidFill>
                  <a:srgbClr val="00002E"/>
                </a:solidFill>
                <a:latin typeface="PT Sans" pitchFamily="34" charset="0"/>
                <a:ea typeface="PT Sans" pitchFamily="34" charset="-122"/>
                <a:cs typeface="PT Sans" pitchFamily="34" charset="-120"/>
              </a:rPr>
              <a:t>    PUT /API/refills/{id}</a:t>
            </a:r>
            <a:r>
              <a:rPr lang="en-US" sz="2400" dirty="0">
                <a:solidFill>
                  <a:srgbClr val="00002E"/>
                </a:solidFill>
                <a:latin typeface="PT Sans" pitchFamily="34" charset="0"/>
                <a:ea typeface="PT Sans" pitchFamily="34" charset="-122"/>
                <a:cs typeface="PT Sans" pitchFamily="34" charset="-120"/>
              </a:rPr>
              <a:t> - Refill </a:t>
            </a:r>
          </a:p>
          <a:p>
            <a:pPr marL="342900" indent="-342900" algn="l">
              <a:lnSpc>
                <a:spcPts val="1150"/>
              </a:lnSpc>
              <a:buSzPct val="100000"/>
              <a:buChar char="•"/>
            </a:pPr>
            <a:endParaRPr lang="en-US" sz="2400" dirty="0">
              <a:solidFill>
                <a:srgbClr val="00002E"/>
              </a:solidFill>
              <a:latin typeface="PT Sans" pitchFamily="34" charset="0"/>
              <a:ea typeface="PT Sans" pitchFamily="34" charset="-122"/>
              <a:cs typeface="PT Sans" pitchFamily="34" charset="-120"/>
            </a:endParaRPr>
          </a:p>
          <a:p>
            <a:pPr algn="l">
              <a:lnSpc>
                <a:spcPts val="1150"/>
              </a:lnSpc>
              <a:buSzPct val="100000"/>
            </a:pPr>
            <a:r>
              <a:rPr lang="en-US" sz="2400" dirty="0">
                <a:solidFill>
                  <a:srgbClr val="00002E"/>
                </a:solidFill>
                <a:latin typeface="PT Sans" pitchFamily="34" charset="0"/>
                <a:ea typeface="PT Sans" pitchFamily="34" charset="-122"/>
                <a:cs typeface="PT Sans" pitchFamily="34" charset="-120"/>
              </a:rPr>
              <a:t>    request approval</a:t>
            </a:r>
            <a:endParaRPr lang="en-US" sz="2400" dirty="0"/>
          </a:p>
        </p:txBody>
      </p:sp>
      <p:pic>
        <p:nvPicPr>
          <p:cNvPr id="38" name="Image 5" descr="preencoded.png">
            <a:extLst>
              <a:ext uri="{FF2B5EF4-FFF2-40B4-BE49-F238E27FC236}">
                <a16:creationId xmlns:a16="http://schemas.microsoft.com/office/drawing/2014/main" id="{BD6104FF-4BA5-A27C-4321-8174FFF58686}"/>
              </a:ext>
            </a:extLst>
          </p:cNvPr>
          <p:cNvPicPr>
            <a:picLocks noChangeAspect="1"/>
          </p:cNvPicPr>
          <p:nvPr/>
        </p:nvPicPr>
        <p:blipFill>
          <a:blip r:embed="rId3"/>
          <a:stretch>
            <a:fillRect/>
          </a:stretch>
        </p:blipFill>
        <p:spPr>
          <a:xfrm>
            <a:off x="10069336" y="2338695"/>
            <a:ext cx="3703228" cy="370322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72099" y="0"/>
            <a:ext cx="5486400" cy="8229600"/>
          </a:xfrm>
          <a:prstGeom prst="rect">
            <a:avLst/>
          </a:prstGeom>
        </p:spPr>
      </p:pic>
      <p:sp>
        <p:nvSpPr>
          <p:cNvPr id="3" name="Text 0"/>
          <p:cNvSpPr/>
          <p:nvPr/>
        </p:nvSpPr>
        <p:spPr>
          <a:xfrm rot="10800000" flipV="1">
            <a:off x="931664" y="305972"/>
            <a:ext cx="9125385" cy="1039599"/>
          </a:xfrm>
          <a:prstGeom prst="rect">
            <a:avLst/>
          </a:prstGeom>
          <a:noFill/>
          <a:ln/>
        </p:spPr>
        <p:txBody>
          <a:bodyPr wrap="none" lIns="0" tIns="0" rIns="0" bIns="0" rtlCol="0" anchor="t"/>
          <a:lstStyle/>
          <a:p>
            <a:pPr>
              <a:lnSpc>
                <a:spcPts val="4650"/>
              </a:lnSpc>
            </a:pPr>
            <a:r>
              <a:rPr lang="en-US" sz="3200" dirty="0">
                <a:solidFill>
                  <a:srgbClr val="00002E"/>
                </a:solidFill>
                <a:latin typeface="Nunito Semi Bold" pitchFamily="34" charset="0"/>
                <a:ea typeface="Nunito Semi Bold" pitchFamily="34" charset="-122"/>
                <a:cs typeface="Nunito Semi Bold" pitchFamily="34" charset="-120"/>
              </a:rPr>
              <a:t>          Roles &amp; Access Control of </a:t>
            </a:r>
          </a:p>
          <a:p>
            <a:pPr>
              <a:lnSpc>
                <a:spcPts val="4650"/>
              </a:lnSpc>
            </a:pPr>
            <a:r>
              <a:rPr lang="en-US" sz="3200" dirty="0">
                <a:solidFill>
                  <a:srgbClr val="00002E"/>
                </a:solidFill>
                <a:latin typeface="Nunito Semi Bold" pitchFamily="34" charset="0"/>
                <a:ea typeface="Nunito Semi Bold" pitchFamily="34" charset="-122"/>
                <a:cs typeface="Nunito Semi Bold" pitchFamily="34" charset="-120"/>
              </a:rPr>
              <a:t>Online Medication &amp;Prescription Tracker</a:t>
            </a:r>
            <a:endParaRPr lang="en-US" sz="3200" dirty="0"/>
          </a:p>
        </p:txBody>
      </p:sp>
      <p:sp>
        <p:nvSpPr>
          <p:cNvPr id="4" name="Shape 1"/>
          <p:cNvSpPr/>
          <p:nvPr/>
        </p:nvSpPr>
        <p:spPr>
          <a:xfrm>
            <a:off x="706874" y="2087047"/>
            <a:ext cx="3779877" cy="2516267"/>
          </a:xfrm>
          <a:prstGeom prst="roundRect">
            <a:avLst>
              <a:gd name="adj" fmla="val 12040"/>
            </a:avLst>
          </a:prstGeom>
          <a:solidFill>
            <a:srgbClr val="F3F3FF"/>
          </a:solidFill>
          <a:ln w="22860">
            <a:solidFill>
              <a:schemeClr val="accent1">
                <a:lumMod val="60000"/>
                <a:lumOff val="40000"/>
              </a:schemeClr>
            </a:solidFill>
            <a:prstDash val="solid"/>
          </a:ln>
        </p:spPr>
      </p:sp>
      <p:sp>
        <p:nvSpPr>
          <p:cNvPr id="5" name="Text 2"/>
          <p:cNvSpPr/>
          <p:nvPr/>
        </p:nvSpPr>
        <p:spPr>
          <a:xfrm>
            <a:off x="931664" y="2311837"/>
            <a:ext cx="2376130" cy="297061"/>
          </a:xfrm>
          <a:prstGeom prst="rect">
            <a:avLst/>
          </a:prstGeom>
          <a:noFill/>
          <a:ln/>
        </p:spPr>
        <p:txBody>
          <a:bodyPr wrap="none" lIns="0" tIns="0" rIns="0" bIns="0" rtlCol="0" anchor="t"/>
          <a:lstStyle/>
          <a:p>
            <a:pPr marL="0" indent="0" algn="l">
              <a:lnSpc>
                <a:spcPts val="2300"/>
              </a:lnSpc>
              <a:buNone/>
            </a:pPr>
            <a:r>
              <a:rPr lang="en-US" sz="1850" dirty="0">
                <a:solidFill>
                  <a:srgbClr val="00002E"/>
                </a:solidFill>
                <a:latin typeface="Nunito Semi Bold" pitchFamily="34" charset="0"/>
                <a:ea typeface="Nunito Semi Bold" pitchFamily="34" charset="-122"/>
                <a:cs typeface="Nunito Semi Bold" pitchFamily="34" charset="-120"/>
              </a:rPr>
              <a:t>Admin</a:t>
            </a:r>
            <a:endParaRPr lang="en-US" sz="1850" dirty="0"/>
          </a:p>
        </p:txBody>
      </p:sp>
      <p:sp>
        <p:nvSpPr>
          <p:cNvPr id="6" name="Text 3"/>
          <p:cNvSpPr/>
          <p:nvPr/>
        </p:nvSpPr>
        <p:spPr>
          <a:xfrm>
            <a:off x="931664" y="2711053"/>
            <a:ext cx="3330297" cy="1667470"/>
          </a:xfrm>
          <a:prstGeom prst="rect">
            <a:avLst/>
          </a:prstGeom>
          <a:noFill/>
          <a:ln/>
        </p:spPr>
        <p:txBody>
          <a:bodyPr wrap="square" lIns="0" tIns="0" rIns="0" bIns="0" rtlCol="0" anchor="t"/>
          <a:lstStyle/>
          <a:p>
            <a:pPr marL="342900" indent="-342900" algn="l">
              <a:lnSpc>
                <a:spcPts val="2300"/>
              </a:lnSpc>
              <a:buSzPct val="100000"/>
              <a:buChar char="•"/>
            </a:pPr>
            <a:r>
              <a:rPr lang="en-US" sz="1550" dirty="0">
                <a:solidFill>
                  <a:srgbClr val="00002E"/>
                </a:solidFill>
                <a:latin typeface="PT Sans" pitchFamily="34" charset="0"/>
                <a:ea typeface="PT Sans" pitchFamily="34" charset="-122"/>
                <a:cs typeface="PT Sans" pitchFamily="34" charset="-120"/>
              </a:rPr>
              <a:t>System configuration and maintenance</a:t>
            </a:r>
            <a:endParaRPr lang="en-US" sz="1550" dirty="0"/>
          </a:p>
          <a:p>
            <a:pPr marL="342900" indent="-342900" algn="l">
              <a:lnSpc>
                <a:spcPts val="2300"/>
              </a:lnSpc>
              <a:buSzPct val="100000"/>
              <a:buChar char="•"/>
            </a:pPr>
            <a:r>
              <a:rPr lang="en-US" sz="1550" dirty="0">
                <a:solidFill>
                  <a:srgbClr val="00002E"/>
                </a:solidFill>
                <a:latin typeface="PT Sans" pitchFamily="34" charset="0"/>
                <a:ea typeface="PT Sans" pitchFamily="34" charset="-122"/>
                <a:cs typeface="PT Sans" pitchFamily="34" charset="-120"/>
              </a:rPr>
              <a:t>User account management</a:t>
            </a:r>
            <a:endParaRPr lang="en-US" sz="1550" dirty="0"/>
          </a:p>
          <a:p>
            <a:pPr marL="342900" indent="-342900" algn="l">
              <a:lnSpc>
                <a:spcPts val="2300"/>
              </a:lnSpc>
              <a:buSzPct val="100000"/>
              <a:buChar char="•"/>
            </a:pPr>
            <a:r>
              <a:rPr lang="en-US" sz="1550" dirty="0">
                <a:solidFill>
                  <a:srgbClr val="00002E"/>
                </a:solidFill>
                <a:latin typeface="PT Sans" pitchFamily="34" charset="0"/>
                <a:ea typeface="PT Sans" pitchFamily="34" charset="-122"/>
                <a:cs typeface="PT Sans" pitchFamily="34" charset="-120"/>
              </a:rPr>
              <a:t>System monitoring and analytics</a:t>
            </a:r>
            <a:endParaRPr lang="en-US" sz="1550" dirty="0"/>
          </a:p>
          <a:p>
            <a:pPr marL="342900" indent="-342900" algn="l">
              <a:lnSpc>
                <a:spcPts val="2300"/>
              </a:lnSpc>
              <a:buSzPct val="100000"/>
              <a:buChar char="•"/>
            </a:pPr>
            <a:r>
              <a:rPr lang="en-US" sz="1550" dirty="0">
                <a:solidFill>
                  <a:srgbClr val="00002E"/>
                </a:solidFill>
                <a:latin typeface="PT Sans" pitchFamily="34" charset="0"/>
                <a:ea typeface="PT Sans" pitchFamily="34" charset="-122"/>
                <a:cs typeface="PT Sans" pitchFamily="34" charset="-120"/>
              </a:rPr>
              <a:t>Database backup and recovery</a:t>
            </a:r>
            <a:endParaRPr lang="en-US" sz="1550" dirty="0"/>
          </a:p>
        </p:txBody>
      </p:sp>
      <p:sp>
        <p:nvSpPr>
          <p:cNvPr id="7" name="Shape 4"/>
          <p:cNvSpPr/>
          <p:nvPr/>
        </p:nvSpPr>
        <p:spPr>
          <a:xfrm>
            <a:off x="4657130" y="2087047"/>
            <a:ext cx="3779996" cy="2516267"/>
          </a:xfrm>
          <a:prstGeom prst="roundRect">
            <a:avLst>
              <a:gd name="adj" fmla="val 12040"/>
            </a:avLst>
          </a:prstGeom>
          <a:solidFill>
            <a:srgbClr val="F3F3FF"/>
          </a:solidFill>
          <a:ln w="22860">
            <a:solidFill>
              <a:schemeClr val="accent1">
                <a:lumMod val="60000"/>
                <a:lumOff val="40000"/>
              </a:schemeClr>
            </a:solidFill>
            <a:prstDash val="solid"/>
          </a:ln>
        </p:spPr>
      </p:sp>
      <p:sp>
        <p:nvSpPr>
          <p:cNvPr id="8" name="Text 5"/>
          <p:cNvSpPr/>
          <p:nvPr/>
        </p:nvSpPr>
        <p:spPr>
          <a:xfrm>
            <a:off x="4881920" y="2311837"/>
            <a:ext cx="2376130" cy="297061"/>
          </a:xfrm>
          <a:prstGeom prst="rect">
            <a:avLst/>
          </a:prstGeom>
          <a:noFill/>
          <a:ln/>
        </p:spPr>
        <p:txBody>
          <a:bodyPr wrap="none" lIns="0" tIns="0" rIns="0" bIns="0" rtlCol="0" anchor="t"/>
          <a:lstStyle/>
          <a:p>
            <a:pPr marL="0" indent="0" algn="l">
              <a:lnSpc>
                <a:spcPts val="2300"/>
              </a:lnSpc>
              <a:buNone/>
            </a:pPr>
            <a:r>
              <a:rPr lang="en-US" sz="1850" dirty="0">
                <a:solidFill>
                  <a:srgbClr val="00002E"/>
                </a:solidFill>
                <a:latin typeface="Nunito Semi Bold" pitchFamily="34" charset="0"/>
                <a:ea typeface="Nunito Semi Bold" pitchFamily="34" charset="-122"/>
                <a:cs typeface="Nunito Semi Bold" pitchFamily="34" charset="-120"/>
              </a:rPr>
              <a:t>Doctor</a:t>
            </a:r>
            <a:endParaRPr lang="en-US" sz="1850" dirty="0"/>
          </a:p>
        </p:txBody>
      </p:sp>
      <p:sp>
        <p:nvSpPr>
          <p:cNvPr id="9" name="Text 6"/>
          <p:cNvSpPr/>
          <p:nvPr/>
        </p:nvSpPr>
        <p:spPr>
          <a:xfrm>
            <a:off x="4881920" y="2711053"/>
            <a:ext cx="3330416" cy="1369695"/>
          </a:xfrm>
          <a:prstGeom prst="rect">
            <a:avLst/>
          </a:prstGeom>
          <a:noFill/>
          <a:ln/>
        </p:spPr>
        <p:txBody>
          <a:bodyPr wrap="square" lIns="0" tIns="0" rIns="0" bIns="0" rtlCol="0" anchor="t"/>
          <a:lstStyle/>
          <a:p>
            <a:pPr marL="342900" indent="-342900" algn="l">
              <a:lnSpc>
                <a:spcPts val="2300"/>
              </a:lnSpc>
              <a:buSzPct val="100000"/>
              <a:buChar char="•"/>
            </a:pPr>
            <a:r>
              <a:rPr lang="en-US" sz="1550" dirty="0">
                <a:solidFill>
                  <a:srgbClr val="00002E"/>
                </a:solidFill>
                <a:latin typeface="PT Sans" pitchFamily="34" charset="0"/>
                <a:ea typeface="PT Sans" pitchFamily="34" charset="-122"/>
                <a:cs typeface="PT Sans" pitchFamily="34" charset="-120"/>
              </a:rPr>
              <a:t>View patient medication lists</a:t>
            </a:r>
            <a:endParaRPr lang="en-US" sz="1550" dirty="0"/>
          </a:p>
          <a:p>
            <a:pPr marL="342900" indent="-342900" algn="l">
              <a:lnSpc>
                <a:spcPts val="2300"/>
              </a:lnSpc>
              <a:buSzPct val="100000"/>
              <a:buChar char="•"/>
            </a:pPr>
            <a:r>
              <a:rPr lang="en-US" sz="1550" dirty="0">
                <a:solidFill>
                  <a:srgbClr val="00002E"/>
                </a:solidFill>
                <a:latin typeface="PT Sans" pitchFamily="34" charset="0"/>
                <a:ea typeface="PT Sans" pitchFamily="34" charset="-122"/>
                <a:cs typeface="PT Sans" pitchFamily="34" charset="-120"/>
              </a:rPr>
              <a:t>Create and update prescriptions</a:t>
            </a:r>
            <a:endParaRPr lang="en-US" sz="1550" dirty="0"/>
          </a:p>
          <a:p>
            <a:pPr marL="342900" indent="-342900" algn="l">
              <a:lnSpc>
                <a:spcPts val="2300"/>
              </a:lnSpc>
              <a:buSzPct val="100000"/>
              <a:buChar char="•"/>
            </a:pPr>
            <a:r>
              <a:rPr lang="en-US" sz="1550" dirty="0">
                <a:solidFill>
                  <a:srgbClr val="00002E"/>
                </a:solidFill>
                <a:latin typeface="PT Sans" pitchFamily="34" charset="0"/>
                <a:ea typeface="PT Sans" pitchFamily="34" charset="-122"/>
                <a:cs typeface="PT Sans" pitchFamily="34" charset="-120"/>
              </a:rPr>
              <a:t>Approve refill requests</a:t>
            </a:r>
            <a:endParaRPr lang="en-US" sz="1550" dirty="0"/>
          </a:p>
          <a:p>
            <a:pPr marL="342900" indent="-342900" algn="l">
              <a:lnSpc>
                <a:spcPts val="2300"/>
              </a:lnSpc>
              <a:buSzPct val="100000"/>
              <a:buChar char="•"/>
            </a:pPr>
            <a:r>
              <a:rPr lang="en-US" sz="1550" dirty="0">
                <a:solidFill>
                  <a:srgbClr val="00002E"/>
                </a:solidFill>
                <a:latin typeface="PT Sans" pitchFamily="34" charset="0"/>
                <a:ea typeface="PT Sans" pitchFamily="34" charset="-122"/>
                <a:cs typeface="PT Sans" pitchFamily="34" charset="-120"/>
              </a:rPr>
              <a:t>Monitor treatment compliance</a:t>
            </a:r>
            <a:endParaRPr lang="en-US" sz="1550" dirty="0"/>
          </a:p>
        </p:txBody>
      </p:sp>
      <p:sp>
        <p:nvSpPr>
          <p:cNvPr id="10" name="Shape 7"/>
          <p:cNvSpPr/>
          <p:nvPr/>
        </p:nvSpPr>
        <p:spPr>
          <a:xfrm>
            <a:off x="706874" y="4773692"/>
            <a:ext cx="7730252" cy="2218492"/>
          </a:xfrm>
          <a:prstGeom prst="roundRect">
            <a:avLst>
              <a:gd name="adj" fmla="val 13656"/>
            </a:avLst>
          </a:prstGeom>
          <a:solidFill>
            <a:srgbClr val="F3F3FF"/>
          </a:solidFill>
          <a:ln w="22860">
            <a:solidFill>
              <a:schemeClr val="accent1">
                <a:lumMod val="60000"/>
                <a:lumOff val="40000"/>
              </a:schemeClr>
            </a:solidFill>
            <a:prstDash val="solid"/>
          </a:ln>
        </p:spPr>
      </p:sp>
      <p:sp>
        <p:nvSpPr>
          <p:cNvPr id="11" name="Text 8"/>
          <p:cNvSpPr/>
          <p:nvPr/>
        </p:nvSpPr>
        <p:spPr>
          <a:xfrm>
            <a:off x="931664" y="4998482"/>
            <a:ext cx="2376130" cy="297061"/>
          </a:xfrm>
          <a:prstGeom prst="rect">
            <a:avLst/>
          </a:prstGeom>
          <a:noFill/>
          <a:ln/>
        </p:spPr>
        <p:txBody>
          <a:bodyPr wrap="none" lIns="0" tIns="0" rIns="0" bIns="0" rtlCol="0" anchor="t"/>
          <a:lstStyle/>
          <a:p>
            <a:pPr marL="0" indent="0" algn="l">
              <a:lnSpc>
                <a:spcPts val="2300"/>
              </a:lnSpc>
              <a:buNone/>
            </a:pPr>
            <a:r>
              <a:rPr lang="en-US" sz="1850" dirty="0">
                <a:solidFill>
                  <a:srgbClr val="00002E"/>
                </a:solidFill>
                <a:latin typeface="Nunito Semi Bold" pitchFamily="34" charset="0"/>
                <a:ea typeface="Nunito Semi Bold" pitchFamily="34" charset="-122"/>
                <a:cs typeface="Nunito Semi Bold" pitchFamily="34" charset="-120"/>
              </a:rPr>
              <a:t>Patient</a:t>
            </a:r>
            <a:endParaRPr lang="en-US" sz="1850" dirty="0"/>
          </a:p>
        </p:txBody>
      </p:sp>
      <p:sp>
        <p:nvSpPr>
          <p:cNvPr id="12" name="Text 9"/>
          <p:cNvSpPr/>
          <p:nvPr/>
        </p:nvSpPr>
        <p:spPr>
          <a:xfrm>
            <a:off x="931664" y="5397698"/>
            <a:ext cx="7280672" cy="1369695"/>
          </a:xfrm>
          <a:prstGeom prst="rect">
            <a:avLst/>
          </a:prstGeom>
          <a:noFill/>
          <a:ln/>
        </p:spPr>
        <p:txBody>
          <a:bodyPr wrap="square" lIns="0" tIns="0" rIns="0" bIns="0" rtlCol="0" anchor="t"/>
          <a:lstStyle/>
          <a:p>
            <a:pPr marL="342900" indent="-342900" algn="l">
              <a:lnSpc>
                <a:spcPts val="2300"/>
              </a:lnSpc>
              <a:buSzPct val="100000"/>
              <a:buChar char="•"/>
            </a:pPr>
            <a:r>
              <a:rPr lang="en-US" sz="1550" dirty="0">
                <a:solidFill>
                  <a:srgbClr val="00002E"/>
                </a:solidFill>
                <a:latin typeface="PT Sans" pitchFamily="34" charset="0"/>
                <a:ea typeface="PT Sans" pitchFamily="34" charset="-122"/>
                <a:cs typeface="PT Sans" pitchFamily="34" charset="-120"/>
              </a:rPr>
              <a:t>View personal medication schedule</a:t>
            </a:r>
            <a:endParaRPr lang="en-US" sz="1550" dirty="0"/>
          </a:p>
          <a:p>
            <a:pPr marL="342900" indent="-342900" algn="l">
              <a:lnSpc>
                <a:spcPts val="2300"/>
              </a:lnSpc>
              <a:buSzPct val="100000"/>
              <a:buChar char="•"/>
            </a:pPr>
            <a:r>
              <a:rPr lang="en-US" sz="1550" dirty="0">
                <a:solidFill>
                  <a:srgbClr val="00002E"/>
                </a:solidFill>
                <a:latin typeface="PT Sans" pitchFamily="34" charset="0"/>
                <a:ea typeface="PT Sans" pitchFamily="34" charset="-122"/>
                <a:cs typeface="PT Sans" pitchFamily="34" charset="-120"/>
              </a:rPr>
              <a:t>Request prescription refills</a:t>
            </a:r>
            <a:endParaRPr lang="en-US" sz="1550" dirty="0"/>
          </a:p>
          <a:p>
            <a:pPr marL="342900" indent="-342900" algn="l">
              <a:lnSpc>
                <a:spcPts val="2300"/>
              </a:lnSpc>
              <a:buSzPct val="100000"/>
              <a:buChar char="•"/>
            </a:pPr>
            <a:r>
              <a:rPr lang="en-US" sz="1550" dirty="0">
                <a:solidFill>
                  <a:srgbClr val="00002E"/>
                </a:solidFill>
                <a:latin typeface="PT Sans" pitchFamily="34" charset="0"/>
                <a:ea typeface="PT Sans" pitchFamily="34" charset="-122"/>
                <a:cs typeface="PT Sans" pitchFamily="34" charset="-120"/>
              </a:rPr>
              <a:t>Track dosage adherence</a:t>
            </a:r>
            <a:endParaRPr lang="en-US" sz="1550" dirty="0"/>
          </a:p>
          <a:p>
            <a:pPr marL="342900" indent="-342900" algn="l">
              <a:lnSpc>
                <a:spcPts val="2300"/>
              </a:lnSpc>
              <a:buSzPct val="100000"/>
              <a:buChar char="•"/>
            </a:pPr>
            <a:r>
              <a:rPr lang="en-US" sz="1550" dirty="0">
                <a:solidFill>
                  <a:srgbClr val="00002E"/>
                </a:solidFill>
                <a:latin typeface="PT Sans" pitchFamily="34" charset="0"/>
                <a:ea typeface="PT Sans" pitchFamily="34" charset="-122"/>
                <a:cs typeface="PT Sans" pitchFamily="34" charset="-120"/>
              </a:rPr>
              <a:t>Access prescription history</a:t>
            </a:r>
            <a:endParaRPr lang="en-US" sz="1550" dirty="0"/>
          </a:p>
        </p:txBody>
      </p:sp>
      <p:sp>
        <p:nvSpPr>
          <p:cNvPr id="13" name="Rectangle 12">
            <a:extLst>
              <a:ext uri="{FF2B5EF4-FFF2-40B4-BE49-F238E27FC236}">
                <a16:creationId xmlns:a16="http://schemas.microsoft.com/office/drawing/2014/main" id="{14D8B4DF-EDE6-5F99-71C9-8D77E399BB56}"/>
              </a:ext>
            </a:extLst>
          </p:cNvPr>
          <p:cNvSpPr/>
          <p:nvPr/>
        </p:nvSpPr>
        <p:spPr>
          <a:xfrm>
            <a:off x="9115901" y="9223"/>
            <a:ext cx="5514499" cy="8229600"/>
          </a:xfrm>
          <a:prstGeom prst="rect">
            <a:avLst/>
          </a:prstGeom>
          <a:solidFill>
            <a:srgbClr val="8CD6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AutoShape 8">
            <a:extLst>
              <a:ext uri="{FF2B5EF4-FFF2-40B4-BE49-F238E27FC236}">
                <a16:creationId xmlns:a16="http://schemas.microsoft.com/office/drawing/2014/main" id="{D56DB78A-E115-2F5A-9F09-8D5CA4806C7C}"/>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 name="AutoShape 10">
            <a:extLst>
              <a:ext uri="{FF2B5EF4-FFF2-40B4-BE49-F238E27FC236}">
                <a16:creationId xmlns:a16="http://schemas.microsoft.com/office/drawing/2014/main" id="{DD1D5CF0-DE80-B7F1-57B7-A2AA8B0D2125}"/>
              </a:ext>
            </a:extLst>
          </p:cNvPr>
          <p:cNvSpPr>
            <a:spLocks noChangeAspect="1" noChangeArrowheads="1"/>
          </p:cNvSpPr>
          <p:nvPr/>
        </p:nvSpPr>
        <p:spPr bwMode="auto">
          <a:xfrm>
            <a:off x="7315200" y="411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6" name="AutoShape 14">
            <a:extLst>
              <a:ext uri="{FF2B5EF4-FFF2-40B4-BE49-F238E27FC236}">
                <a16:creationId xmlns:a16="http://schemas.microsoft.com/office/drawing/2014/main" id="{FBA0AD14-3A4A-BBA0-D031-8B55EC9B0036}"/>
              </a:ext>
            </a:extLst>
          </p:cNvPr>
          <p:cNvSpPr>
            <a:spLocks noChangeAspect="1" noChangeArrowheads="1"/>
          </p:cNvSpPr>
          <p:nvPr/>
        </p:nvSpPr>
        <p:spPr bwMode="auto">
          <a:xfrm>
            <a:off x="7467600" y="4267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7" name="AutoShape 18">
            <a:extLst>
              <a:ext uri="{FF2B5EF4-FFF2-40B4-BE49-F238E27FC236}">
                <a16:creationId xmlns:a16="http://schemas.microsoft.com/office/drawing/2014/main" id="{66EAC452-DA4B-CE83-0E1A-52C29FE2B2EA}"/>
              </a:ext>
            </a:extLst>
          </p:cNvPr>
          <p:cNvSpPr>
            <a:spLocks noChangeAspect="1" noChangeArrowheads="1"/>
          </p:cNvSpPr>
          <p:nvPr/>
        </p:nvSpPr>
        <p:spPr bwMode="auto">
          <a:xfrm>
            <a:off x="7620000" y="4419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64" name="Picture 16">
            <a:extLst>
              <a:ext uri="{FF2B5EF4-FFF2-40B4-BE49-F238E27FC236}">
                <a16:creationId xmlns:a16="http://schemas.microsoft.com/office/drawing/2014/main" id="{994FC3A5-2549-7D9C-99E3-DF2AC16FA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47596" y="2758132"/>
            <a:ext cx="2236140" cy="232121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CF3B2E1-2A9E-A794-A963-8EEC6BA0583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43950" y="-13834"/>
            <a:ext cx="5914549" cy="82572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5C1A247-4EEE-F4D4-74FB-D9D94C62CBF6}"/>
              </a:ext>
            </a:extLst>
          </p:cNvPr>
          <p:cNvSpPr/>
          <p:nvPr/>
        </p:nvSpPr>
        <p:spPr>
          <a:xfrm>
            <a:off x="-33006" y="19050"/>
            <a:ext cx="14633910" cy="8229600"/>
          </a:xfrm>
          <a:prstGeom prst="rect">
            <a:avLst/>
          </a:prstGeom>
          <a:solidFill>
            <a:srgbClr val="8CD6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 0"/>
          <p:cNvSpPr/>
          <p:nvPr/>
        </p:nvSpPr>
        <p:spPr>
          <a:xfrm>
            <a:off x="1976199" y="518693"/>
            <a:ext cx="10878741" cy="704017"/>
          </a:xfrm>
          <a:prstGeom prst="rect">
            <a:avLst/>
          </a:prstGeom>
          <a:noFill/>
          <a:ln/>
        </p:spPr>
        <p:txBody>
          <a:bodyPr wrap="none" lIns="0" tIns="0" rIns="0" bIns="0" rtlCol="0" anchor="t"/>
          <a:lstStyle/>
          <a:p>
            <a:pPr>
              <a:lnSpc>
                <a:spcPts val="5500"/>
              </a:lnSpc>
            </a:pPr>
            <a:r>
              <a:rPr lang="en-US" sz="4400" dirty="0">
                <a:solidFill>
                  <a:srgbClr val="00002E"/>
                </a:solidFill>
                <a:latin typeface="Nunito Semi Bold" pitchFamily="34" charset="0"/>
                <a:ea typeface="Nunito Semi Bold" pitchFamily="34" charset="-122"/>
                <a:cs typeface="Nunito Semi Bold" pitchFamily="34" charset="-120"/>
              </a:rPr>
              <a:t>           Challenges &amp; Solutions in </a:t>
            </a:r>
          </a:p>
          <a:p>
            <a:pPr>
              <a:lnSpc>
                <a:spcPts val="5500"/>
              </a:lnSpc>
            </a:pPr>
            <a:r>
              <a:rPr lang="en-US" sz="4400" dirty="0">
                <a:solidFill>
                  <a:srgbClr val="00002E"/>
                </a:solidFill>
                <a:latin typeface="Nunito Semi Bold" pitchFamily="34" charset="0"/>
                <a:ea typeface="Nunito Semi Bold" pitchFamily="34" charset="-122"/>
                <a:cs typeface="Nunito Semi Bold" pitchFamily="34" charset="-120"/>
              </a:rPr>
              <a:t>Online Medication &amp;Prescription Tracker </a:t>
            </a:r>
            <a:endParaRPr lang="en-US" sz="4400" dirty="0"/>
          </a:p>
        </p:txBody>
      </p:sp>
      <p:sp>
        <p:nvSpPr>
          <p:cNvPr id="3" name="Shape 1"/>
          <p:cNvSpPr/>
          <p:nvPr/>
        </p:nvSpPr>
        <p:spPr>
          <a:xfrm>
            <a:off x="383587" y="2951440"/>
            <a:ext cx="4503540" cy="4287560"/>
          </a:xfrm>
          <a:prstGeom prst="roundRect">
            <a:avLst>
              <a:gd name="adj" fmla="val 10232"/>
            </a:avLst>
          </a:prstGeom>
          <a:solidFill>
            <a:srgbClr val="F3F3FF"/>
          </a:solidFill>
          <a:ln w="22860">
            <a:solidFill>
              <a:srgbClr val="2D4DF2"/>
            </a:solidFill>
            <a:prstDash val="solid"/>
          </a:ln>
        </p:spPr>
      </p:sp>
      <p:sp>
        <p:nvSpPr>
          <p:cNvPr id="4" name="Shape 2"/>
          <p:cNvSpPr/>
          <p:nvPr/>
        </p:nvSpPr>
        <p:spPr>
          <a:xfrm>
            <a:off x="516520" y="3077944"/>
            <a:ext cx="718066" cy="718066"/>
          </a:xfrm>
          <a:prstGeom prst="roundRect">
            <a:avLst>
              <a:gd name="adj" fmla="val 12732932"/>
            </a:avLst>
          </a:prstGeom>
          <a:solidFill>
            <a:srgbClr val="2D4DF2"/>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3985" y="3249454"/>
            <a:ext cx="323136" cy="323136"/>
          </a:xfrm>
          <a:prstGeom prst="rect">
            <a:avLst/>
          </a:prstGeom>
        </p:spPr>
      </p:pic>
      <p:sp>
        <p:nvSpPr>
          <p:cNvPr id="6" name="Text 3"/>
          <p:cNvSpPr/>
          <p:nvPr/>
        </p:nvSpPr>
        <p:spPr>
          <a:xfrm>
            <a:off x="1393713" y="3235047"/>
            <a:ext cx="2860238" cy="351949"/>
          </a:xfrm>
          <a:prstGeom prst="rect">
            <a:avLst/>
          </a:prstGeom>
          <a:noFill/>
          <a:ln/>
        </p:spPr>
        <p:txBody>
          <a:bodyPr wrap="none" lIns="0" tIns="0" rIns="0" bIns="0" rtlCol="0" anchor="t"/>
          <a:lstStyle/>
          <a:p>
            <a:pPr marL="0" indent="0" algn="l">
              <a:lnSpc>
                <a:spcPts val="2750"/>
              </a:lnSpc>
              <a:buNone/>
            </a:pPr>
            <a:r>
              <a:rPr lang="en-US" sz="2200" dirty="0">
                <a:solidFill>
                  <a:srgbClr val="00002E"/>
                </a:solidFill>
                <a:latin typeface="Nunito Semi Bold" pitchFamily="34" charset="0"/>
                <a:ea typeface="Nunito Semi Bold" pitchFamily="34" charset="-122"/>
                <a:cs typeface="Nunito Semi Bold" pitchFamily="34" charset="-120"/>
              </a:rPr>
              <a:t>Medication Adherence</a:t>
            </a:r>
            <a:endParaRPr lang="en-US" sz="2200" dirty="0"/>
          </a:p>
        </p:txBody>
      </p:sp>
      <p:sp>
        <p:nvSpPr>
          <p:cNvPr id="7" name="Text 4"/>
          <p:cNvSpPr/>
          <p:nvPr/>
        </p:nvSpPr>
        <p:spPr>
          <a:xfrm>
            <a:off x="683295" y="3876703"/>
            <a:ext cx="3634383" cy="2762041"/>
          </a:xfrm>
          <a:prstGeom prst="rect">
            <a:avLst/>
          </a:prstGeom>
          <a:noFill/>
          <a:ln/>
        </p:spPr>
        <p:txBody>
          <a:bodyPr wrap="square" lIns="0" tIns="0" rIns="0" bIns="0" rtlCol="0" anchor="t"/>
          <a:lstStyle/>
          <a:p>
            <a:pPr>
              <a:lnSpc>
                <a:spcPts val="3000"/>
              </a:lnSpc>
            </a:pPr>
            <a:r>
              <a:rPr lang="en-IN" sz="1400" b="1" dirty="0"/>
              <a:t>Challenge</a:t>
            </a:r>
            <a:r>
              <a:rPr lang="en-IN" sz="1400" dirty="0"/>
              <a:t> :</a:t>
            </a:r>
            <a:r>
              <a:rPr lang="en-US" sz="1400" dirty="0">
                <a:solidFill>
                  <a:srgbClr val="00002E"/>
                </a:solidFill>
                <a:latin typeface="PT Sans" pitchFamily="34" charset="0"/>
                <a:ea typeface="PT Sans" pitchFamily="34" charset="-122"/>
                <a:cs typeface="PT Sans" pitchFamily="34" charset="-120"/>
              </a:rPr>
              <a:t>Patients struggle to track multiple medications with complex schedules, leading to missed doses and treatment complications.</a:t>
            </a:r>
            <a:r>
              <a:rPr lang="en-US" sz="1400" b="1" dirty="0"/>
              <a:t> </a:t>
            </a:r>
          </a:p>
          <a:p>
            <a:pPr>
              <a:lnSpc>
                <a:spcPts val="3000"/>
              </a:lnSpc>
            </a:pPr>
            <a:r>
              <a:rPr lang="en-US" sz="1400" b="1" dirty="0"/>
              <a:t>Solution:</a:t>
            </a:r>
            <a:r>
              <a:rPr lang="en-US" sz="1400" dirty="0"/>
              <a:t> Implement a digital medication reminder system with personalized notifications and easy-to-read schedules to help patients take the right medicine at the right time.</a:t>
            </a:r>
          </a:p>
        </p:txBody>
      </p:sp>
      <p:sp>
        <p:nvSpPr>
          <p:cNvPr id="8" name="Shape 5"/>
          <p:cNvSpPr/>
          <p:nvPr/>
        </p:nvSpPr>
        <p:spPr>
          <a:xfrm>
            <a:off x="5191628" y="2951440"/>
            <a:ext cx="4296760" cy="4287560"/>
          </a:xfrm>
          <a:prstGeom prst="roundRect">
            <a:avLst>
              <a:gd name="adj" fmla="val 10232"/>
            </a:avLst>
          </a:prstGeom>
          <a:solidFill>
            <a:srgbClr val="F3F3FF"/>
          </a:solidFill>
          <a:ln w="22860">
            <a:solidFill>
              <a:srgbClr val="018CE1"/>
            </a:solidFill>
            <a:prstDash val="solid"/>
          </a:ln>
        </p:spPr>
        <p:txBody>
          <a:bodyPr/>
          <a:lstStyle/>
          <a:p>
            <a:endParaRPr lang="en-IN" dirty="0"/>
          </a:p>
        </p:txBody>
      </p:sp>
      <p:sp>
        <p:nvSpPr>
          <p:cNvPr id="9" name="Shape 6"/>
          <p:cNvSpPr/>
          <p:nvPr/>
        </p:nvSpPr>
        <p:spPr>
          <a:xfrm>
            <a:off x="5296032" y="3060616"/>
            <a:ext cx="718066" cy="718066"/>
          </a:xfrm>
          <a:prstGeom prst="roundRect">
            <a:avLst>
              <a:gd name="adj" fmla="val 12732932"/>
            </a:avLst>
          </a:prstGeom>
          <a:solidFill>
            <a:srgbClr val="018CE1"/>
          </a:solidFill>
          <a:ln/>
        </p:spPr>
        <p:txBody>
          <a:bodyPr/>
          <a:lstStyle/>
          <a:p>
            <a:endParaRPr lang="en-IN"/>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20120" y="3213616"/>
            <a:ext cx="323136" cy="323136"/>
          </a:xfrm>
          <a:prstGeom prst="rect">
            <a:avLst/>
          </a:prstGeom>
        </p:spPr>
      </p:pic>
      <p:sp>
        <p:nvSpPr>
          <p:cNvPr id="11" name="Text 7"/>
          <p:cNvSpPr/>
          <p:nvPr/>
        </p:nvSpPr>
        <p:spPr>
          <a:xfrm>
            <a:off x="6105204" y="3261002"/>
            <a:ext cx="3292078" cy="351949"/>
          </a:xfrm>
          <a:prstGeom prst="rect">
            <a:avLst/>
          </a:prstGeom>
          <a:noFill/>
          <a:ln/>
        </p:spPr>
        <p:txBody>
          <a:bodyPr wrap="none" lIns="0" tIns="0" rIns="0" bIns="0" rtlCol="0" anchor="t"/>
          <a:lstStyle/>
          <a:p>
            <a:pPr marL="0" indent="0" algn="l">
              <a:lnSpc>
                <a:spcPts val="2750"/>
              </a:lnSpc>
              <a:buNone/>
            </a:pPr>
            <a:r>
              <a:rPr lang="en-US" sz="2200" dirty="0">
                <a:solidFill>
                  <a:srgbClr val="00002E"/>
                </a:solidFill>
                <a:latin typeface="Nunito Semi Bold" pitchFamily="34" charset="0"/>
                <a:ea typeface="Nunito Semi Bold" pitchFamily="34" charset="-122"/>
                <a:cs typeface="Nunito Semi Bold" pitchFamily="34" charset="-120"/>
              </a:rPr>
              <a:t>Prescription Management</a:t>
            </a:r>
            <a:endParaRPr lang="en-US" sz="2200" dirty="0"/>
          </a:p>
        </p:txBody>
      </p:sp>
      <p:sp>
        <p:nvSpPr>
          <p:cNvPr id="12" name="Text 8"/>
          <p:cNvSpPr/>
          <p:nvPr/>
        </p:nvSpPr>
        <p:spPr>
          <a:xfrm>
            <a:off x="5520120" y="3873916"/>
            <a:ext cx="3634383" cy="1532096"/>
          </a:xfrm>
          <a:prstGeom prst="rect">
            <a:avLst/>
          </a:prstGeom>
          <a:noFill/>
          <a:ln/>
        </p:spPr>
        <p:txBody>
          <a:bodyPr wrap="square" lIns="0" tIns="0" rIns="0" bIns="0" rtlCol="0" anchor="t"/>
          <a:lstStyle/>
          <a:p>
            <a:pPr>
              <a:lnSpc>
                <a:spcPts val="3000"/>
              </a:lnSpc>
            </a:pPr>
            <a:r>
              <a:rPr lang="en-US" sz="1400" b="1" dirty="0"/>
              <a:t>Challenge:</a:t>
            </a:r>
            <a:r>
              <a:rPr lang="en-US" sz="1400" dirty="0"/>
              <a:t> Fragmented systems make it difficult for doctors to monitor patient compliance and update treatment plans efficiently.</a:t>
            </a:r>
            <a:br>
              <a:rPr lang="en-US" sz="1400" dirty="0"/>
            </a:br>
            <a:r>
              <a:rPr lang="en-US" sz="1400" b="1" dirty="0"/>
              <a:t>Solution:</a:t>
            </a:r>
            <a:r>
              <a:rPr lang="en-US" sz="1400" dirty="0"/>
              <a:t> Develop an integrated digital platform that consolidates patient medication data, allowing doctors to track adherence, adjust prescriptions in real time, and communicate directly with patients.</a:t>
            </a:r>
          </a:p>
        </p:txBody>
      </p:sp>
      <p:sp>
        <p:nvSpPr>
          <p:cNvPr id="13" name="Shape 9"/>
          <p:cNvSpPr/>
          <p:nvPr/>
        </p:nvSpPr>
        <p:spPr>
          <a:xfrm>
            <a:off x="9633823" y="2951440"/>
            <a:ext cx="4158853" cy="4287560"/>
          </a:xfrm>
          <a:prstGeom prst="roundRect">
            <a:avLst>
              <a:gd name="adj" fmla="val 10232"/>
            </a:avLst>
          </a:prstGeom>
          <a:solidFill>
            <a:srgbClr val="F3F3FF"/>
          </a:solidFill>
          <a:ln w="22860">
            <a:solidFill>
              <a:srgbClr val="DA33BF"/>
            </a:solidFill>
            <a:prstDash val="solid"/>
          </a:ln>
        </p:spPr>
      </p:sp>
      <p:sp>
        <p:nvSpPr>
          <p:cNvPr id="14" name="Shape 10"/>
          <p:cNvSpPr/>
          <p:nvPr/>
        </p:nvSpPr>
        <p:spPr>
          <a:xfrm>
            <a:off x="9728811" y="3057755"/>
            <a:ext cx="718066" cy="718066"/>
          </a:xfrm>
          <a:prstGeom prst="roundRect">
            <a:avLst>
              <a:gd name="adj" fmla="val 12732932"/>
            </a:avLst>
          </a:prstGeom>
          <a:solidFill>
            <a:srgbClr val="DA33BF"/>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95999" y="3187150"/>
            <a:ext cx="323136" cy="323136"/>
          </a:xfrm>
          <a:prstGeom prst="rect">
            <a:avLst/>
          </a:prstGeom>
        </p:spPr>
      </p:pic>
      <p:sp>
        <p:nvSpPr>
          <p:cNvPr id="16" name="Text 11"/>
          <p:cNvSpPr/>
          <p:nvPr/>
        </p:nvSpPr>
        <p:spPr>
          <a:xfrm>
            <a:off x="10780741" y="3261001"/>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00002E"/>
                </a:solidFill>
                <a:latin typeface="Nunito Semi Bold" pitchFamily="34" charset="0"/>
                <a:ea typeface="Nunito Semi Bold" pitchFamily="34" charset="-122"/>
                <a:cs typeface="Nunito Semi Bold" pitchFamily="34" charset="-120"/>
              </a:rPr>
              <a:t>Refill Coordination</a:t>
            </a:r>
            <a:endParaRPr lang="en-US" sz="2200" dirty="0"/>
          </a:p>
        </p:txBody>
      </p:sp>
      <p:sp>
        <p:nvSpPr>
          <p:cNvPr id="17" name="Text 12"/>
          <p:cNvSpPr/>
          <p:nvPr/>
        </p:nvSpPr>
        <p:spPr>
          <a:xfrm>
            <a:off x="9895999" y="3900869"/>
            <a:ext cx="3634502" cy="3310443"/>
          </a:xfrm>
          <a:prstGeom prst="rect">
            <a:avLst/>
          </a:prstGeom>
          <a:noFill/>
          <a:ln/>
        </p:spPr>
        <p:txBody>
          <a:bodyPr wrap="square" lIns="0" tIns="0" rIns="0" bIns="0" rtlCol="0" anchor="t"/>
          <a:lstStyle/>
          <a:p>
            <a:r>
              <a:rPr lang="en-US" sz="1400" b="1" dirty="0"/>
              <a:t>Challenge:</a:t>
            </a:r>
            <a:r>
              <a:rPr lang="en-US" sz="1400" dirty="0"/>
              <a:t> Manual refill requests create friction</a:t>
            </a:r>
          </a:p>
          <a:p>
            <a:endParaRPr lang="en-US" sz="1400" dirty="0"/>
          </a:p>
          <a:p>
            <a:r>
              <a:rPr lang="en-US" sz="1400" dirty="0"/>
              <a:t> between patients and pharmacies, causing delays</a:t>
            </a:r>
          </a:p>
          <a:p>
            <a:endParaRPr lang="en-US" sz="1400" dirty="0"/>
          </a:p>
          <a:p>
            <a:r>
              <a:rPr lang="en-US" sz="1400" dirty="0"/>
              <a:t> in medication continuity.</a:t>
            </a:r>
          </a:p>
          <a:p>
            <a:br>
              <a:rPr lang="en-US" sz="1400" dirty="0"/>
            </a:br>
            <a:r>
              <a:rPr lang="en-US" sz="1400" b="1" dirty="0"/>
              <a:t>Solution:</a:t>
            </a:r>
            <a:r>
              <a:rPr lang="en-US" sz="1400" dirty="0"/>
              <a:t> Implement an automated refill</a:t>
            </a:r>
          </a:p>
          <a:p>
            <a:endParaRPr lang="en-US" sz="1400" dirty="0"/>
          </a:p>
          <a:p>
            <a:r>
              <a:rPr lang="en-US" sz="1400" dirty="0"/>
              <a:t> management system that allows patients to</a:t>
            </a:r>
          </a:p>
          <a:p>
            <a:endParaRPr lang="en-US" sz="1400" dirty="0"/>
          </a:p>
          <a:p>
            <a:r>
              <a:rPr lang="en-US" sz="1400" dirty="0"/>
              <a:t> request refills online and notifies pharmacies in</a:t>
            </a:r>
            <a:br>
              <a:rPr lang="en-US" sz="1400" dirty="0"/>
            </a:br>
            <a:endParaRPr lang="en-US" sz="1400" dirty="0"/>
          </a:p>
          <a:p>
            <a:r>
              <a:rPr lang="en-US" sz="1400" dirty="0"/>
              <a:t> advance, ensuring timely medication availability</a:t>
            </a:r>
          </a:p>
          <a:p>
            <a:endParaRPr lang="en-US" sz="1400" dirty="0"/>
          </a:p>
          <a:p>
            <a:r>
              <a:rPr lang="en-US" sz="1400" dirty="0"/>
              <a:t> and reducing treatment gaps.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7026891" y="229432"/>
            <a:ext cx="7483792" cy="1942625"/>
          </a:xfrm>
          <a:prstGeom prst="rect">
            <a:avLst/>
          </a:prstGeom>
          <a:noFill/>
          <a:ln/>
        </p:spPr>
        <p:txBody>
          <a:bodyPr wrap="square" lIns="0" tIns="0" rIns="0" bIns="0" rtlCol="0" anchor="t"/>
          <a:lstStyle/>
          <a:p>
            <a:pPr>
              <a:lnSpc>
                <a:spcPts val="5450"/>
              </a:lnSpc>
            </a:pPr>
            <a:r>
              <a:rPr lang="en-US" sz="3600" dirty="0">
                <a:solidFill>
                  <a:srgbClr val="00002E"/>
                </a:solidFill>
                <a:latin typeface="Nunito Semi Bold" pitchFamily="34" charset="0"/>
                <a:ea typeface="Nunito Semi Bold" pitchFamily="34" charset="-122"/>
                <a:cs typeface="Nunito Semi Bold" pitchFamily="34" charset="-120"/>
              </a:rPr>
              <a:t>        Architecture of Online</a:t>
            </a:r>
          </a:p>
          <a:p>
            <a:pPr>
              <a:lnSpc>
                <a:spcPts val="5450"/>
              </a:lnSpc>
            </a:pPr>
            <a:r>
              <a:rPr lang="en-US" sz="3600" dirty="0">
                <a:solidFill>
                  <a:srgbClr val="00002E"/>
                </a:solidFill>
                <a:latin typeface="Nunito Semi Bold" pitchFamily="34" charset="0"/>
                <a:ea typeface="Nunito Semi Bold" pitchFamily="34" charset="-122"/>
                <a:cs typeface="Nunito Semi Bold" pitchFamily="34" charset="-120"/>
              </a:rPr>
              <a:t> Medication &amp; Prescription Tracker</a:t>
            </a:r>
            <a:endParaRPr lang="en-US" sz="3600" dirty="0"/>
          </a:p>
        </p:txBody>
      </p:sp>
      <p:pic>
        <p:nvPicPr>
          <p:cNvPr id="4" name="Image 1" descr="preencoded.png"/>
          <p:cNvPicPr>
            <a:picLocks noChangeAspect="1"/>
          </p:cNvPicPr>
          <p:nvPr/>
        </p:nvPicPr>
        <p:blipFill>
          <a:blip r:embed="rId4"/>
          <a:stretch>
            <a:fillRect/>
          </a:stretch>
        </p:blipFill>
        <p:spPr>
          <a:xfrm>
            <a:off x="6895624" y="2329775"/>
            <a:ext cx="1185863" cy="1719501"/>
          </a:xfrm>
          <a:prstGeom prst="rect">
            <a:avLst/>
          </a:prstGeom>
        </p:spPr>
      </p:pic>
      <p:sp>
        <p:nvSpPr>
          <p:cNvPr id="5" name="Text 1"/>
          <p:cNvSpPr/>
          <p:nvPr/>
        </p:nvSpPr>
        <p:spPr>
          <a:xfrm>
            <a:off x="8316397" y="2566947"/>
            <a:ext cx="2790349" cy="348853"/>
          </a:xfrm>
          <a:prstGeom prst="rect">
            <a:avLst/>
          </a:prstGeom>
          <a:noFill/>
          <a:ln/>
        </p:spPr>
        <p:txBody>
          <a:bodyPr wrap="none" lIns="0" tIns="0" rIns="0" bIns="0" rtlCol="0" anchor="t"/>
          <a:lstStyle/>
          <a:p>
            <a:pPr marL="0" indent="0" algn="l">
              <a:lnSpc>
                <a:spcPts val="2700"/>
              </a:lnSpc>
              <a:buNone/>
            </a:pPr>
            <a:r>
              <a:rPr lang="en-US" sz="2150" dirty="0">
                <a:solidFill>
                  <a:srgbClr val="00002E"/>
                </a:solidFill>
                <a:latin typeface="Nunito Semi Bold" pitchFamily="34" charset="0"/>
                <a:ea typeface="Nunito Semi Bold" pitchFamily="34" charset="-122"/>
                <a:cs typeface="Nunito Semi Bold" pitchFamily="34" charset="-120"/>
              </a:rPr>
              <a:t>React Frontend</a:t>
            </a:r>
            <a:endParaRPr lang="en-US" sz="2150" dirty="0"/>
          </a:p>
        </p:txBody>
      </p:sp>
      <p:sp>
        <p:nvSpPr>
          <p:cNvPr id="6" name="Text 2"/>
          <p:cNvSpPr/>
          <p:nvPr/>
        </p:nvSpPr>
        <p:spPr>
          <a:xfrm>
            <a:off x="8316397" y="3056770"/>
            <a:ext cx="6063020" cy="755333"/>
          </a:xfrm>
          <a:prstGeom prst="rect">
            <a:avLst/>
          </a:prstGeom>
          <a:noFill/>
          <a:ln/>
        </p:spPr>
        <p:txBody>
          <a:bodyPr wrap="square" lIns="0" tIns="0" rIns="0" bIns="0" rtlCol="0" anchor="t"/>
          <a:lstStyle/>
          <a:p>
            <a:pPr marL="0" indent="0" algn="l">
              <a:lnSpc>
                <a:spcPts val="2950"/>
              </a:lnSpc>
              <a:buNone/>
            </a:pPr>
            <a:r>
              <a:rPr lang="en-US" sz="1850" dirty="0">
                <a:solidFill>
                  <a:srgbClr val="00002E"/>
                </a:solidFill>
                <a:latin typeface="PT Sans" pitchFamily="34" charset="0"/>
                <a:ea typeface="PT Sans" pitchFamily="34" charset="-122"/>
                <a:cs typeface="PT Sans" pitchFamily="34" charset="-120"/>
              </a:rPr>
              <a:t>Vite + Tailwind CSS + React Router for responsive, component-based UI with client-side routing.</a:t>
            </a:r>
            <a:endParaRPr lang="en-US" sz="1850" dirty="0"/>
          </a:p>
        </p:txBody>
      </p:sp>
      <p:pic>
        <p:nvPicPr>
          <p:cNvPr id="7" name="Image 2" descr="preencoded.png"/>
          <p:cNvPicPr>
            <a:picLocks noChangeAspect="1"/>
          </p:cNvPicPr>
          <p:nvPr/>
        </p:nvPicPr>
        <p:blipFill>
          <a:blip r:embed="rId5"/>
          <a:stretch>
            <a:fillRect/>
          </a:stretch>
        </p:blipFill>
        <p:spPr>
          <a:xfrm>
            <a:off x="6895624" y="4049275"/>
            <a:ext cx="1185863" cy="1719501"/>
          </a:xfrm>
          <a:prstGeom prst="rect">
            <a:avLst/>
          </a:prstGeom>
        </p:spPr>
      </p:pic>
      <p:sp>
        <p:nvSpPr>
          <p:cNvPr id="8" name="Text 3"/>
          <p:cNvSpPr/>
          <p:nvPr/>
        </p:nvSpPr>
        <p:spPr>
          <a:xfrm>
            <a:off x="8316397" y="4286448"/>
            <a:ext cx="2790349" cy="348853"/>
          </a:xfrm>
          <a:prstGeom prst="rect">
            <a:avLst/>
          </a:prstGeom>
          <a:noFill/>
          <a:ln/>
        </p:spPr>
        <p:txBody>
          <a:bodyPr wrap="none" lIns="0" tIns="0" rIns="0" bIns="0" rtlCol="0" anchor="t"/>
          <a:lstStyle/>
          <a:p>
            <a:pPr marL="0" indent="0" algn="l">
              <a:lnSpc>
                <a:spcPts val="2700"/>
              </a:lnSpc>
              <a:buNone/>
            </a:pPr>
            <a:r>
              <a:rPr lang="en-US" sz="2150" dirty="0">
                <a:solidFill>
                  <a:srgbClr val="00002E"/>
                </a:solidFill>
                <a:latin typeface="Nunito Semi Bold" pitchFamily="34" charset="0"/>
                <a:ea typeface="Nunito Semi Bold" pitchFamily="34" charset="-122"/>
                <a:cs typeface="Nunito Semi Bold" pitchFamily="34" charset="-120"/>
              </a:rPr>
              <a:t>Spring Boot Backend</a:t>
            </a:r>
            <a:endParaRPr lang="en-US" sz="2150" dirty="0"/>
          </a:p>
        </p:txBody>
      </p:sp>
      <p:sp>
        <p:nvSpPr>
          <p:cNvPr id="9" name="Text 4"/>
          <p:cNvSpPr/>
          <p:nvPr/>
        </p:nvSpPr>
        <p:spPr>
          <a:xfrm>
            <a:off x="8316397" y="4776271"/>
            <a:ext cx="6063020" cy="755333"/>
          </a:xfrm>
          <a:prstGeom prst="rect">
            <a:avLst/>
          </a:prstGeom>
          <a:noFill/>
          <a:ln/>
        </p:spPr>
        <p:txBody>
          <a:bodyPr wrap="square" lIns="0" tIns="0" rIns="0" bIns="0" rtlCol="0" anchor="t"/>
          <a:lstStyle/>
          <a:p>
            <a:pPr marL="0" indent="0" algn="l">
              <a:lnSpc>
                <a:spcPts val="2950"/>
              </a:lnSpc>
              <a:buNone/>
            </a:pPr>
            <a:r>
              <a:rPr lang="en-US" sz="1850" dirty="0">
                <a:solidFill>
                  <a:srgbClr val="00002E"/>
                </a:solidFill>
                <a:latin typeface="PT Sans" pitchFamily="34" charset="0"/>
                <a:ea typeface="PT Sans" pitchFamily="34" charset="-122"/>
                <a:cs typeface="PT Sans" pitchFamily="34" charset="-120"/>
              </a:rPr>
              <a:t>RESTful APIs handling business logic, JWT authentication, and secure data processing.</a:t>
            </a:r>
            <a:endParaRPr lang="en-US" sz="1850" dirty="0"/>
          </a:p>
        </p:txBody>
      </p:sp>
      <p:pic>
        <p:nvPicPr>
          <p:cNvPr id="10" name="Image 3" descr="preencoded.png"/>
          <p:cNvPicPr>
            <a:picLocks noChangeAspect="1"/>
          </p:cNvPicPr>
          <p:nvPr/>
        </p:nvPicPr>
        <p:blipFill>
          <a:blip r:embed="rId6"/>
          <a:stretch>
            <a:fillRect/>
          </a:stretch>
        </p:blipFill>
        <p:spPr>
          <a:xfrm>
            <a:off x="6895624" y="5768776"/>
            <a:ext cx="1185863" cy="1719501"/>
          </a:xfrm>
          <a:prstGeom prst="rect">
            <a:avLst/>
          </a:prstGeom>
        </p:spPr>
      </p:pic>
      <p:sp>
        <p:nvSpPr>
          <p:cNvPr id="11" name="Text 5"/>
          <p:cNvSpPr/>
          <p:nvPr/>
        </p:nvSpPr>
        <p:spPr>
          <a:xfrm>
            <a:off x="8316397" y="6005948"/>
            <a:ext cx="2790349" cy="348853"/>
          </a:xfrm>
          <a:prstGeom prst="rect">
            <a:avLst/>
          </a:prstGeom>
          <a:noFill/>
          <a:ln/>
        </p:spPr>
        <p:txBody>
          <a:bodyPr wrap="none" lIns="0" tIns="0" rIns="0" bIns="0" rtlCol="0" anchor="t"/>
          <a:lstStyle/>
          <a:p>
            <a:pPr marL="0" indent="0" algn="l">
              <a:lnSpc>
                <a:spcPts val="2700"/>
              </a:lnSpc>
              <a:buNone/>
            </a:pPr>
            <a:r>
              <a:rPr lang="en-US" sz="2150" dirty="0">
                <a:solidFill>
                  <a:srgbClr val="00002E"/>
                </a:solidFill>
                <a:latin typeface="Nunito Semi Bold" pitchFamily="34" charset="0"/>
                <a:ea typeface="Nunito Semi Bold" pitchFamily="34" charset="-122"/>
                <a:cs typeface="Nunito Semi Bold" pitchFamily="34" charset="-120"/>
              </a:rPr>
              <a:t>MongoDB Storage</a:t>
            </a:r>
            <a:endParaRPr lang="en-US" sz="2150" dirty="0"/>
          </a:p>
        </p:txBody>
      </p:sp>
      <p:sp>
        <p:nvSpPr>
          <p:cNvPr id="12" name="Text 6"/>
          <p:cNvSpPr/>
          <p:nvPr/>
        </p:nvSpPr>
        <p:spPr>
          <a:xfrm>
            <a:off x="8316397" y="6495772"/>
            <a:ext cx="6063020" cy="755333"/>
          </a:xfrm>
          <a:prstGeom prst="rect">
            <a:avLst/>
          </a:prstGeom>
          <a:noFill/>
          <a:ln/>
        </p:spPr>
        <p:txBody>
          <a:bodyPr wrap="square" lIns="0" tIns="0" rIns="0" bIns="0" rtlCol="0" anchor="t"/>
          <a:lstStyle/>
          <a:p>
            <a:pPr marL="0" indent="0" algn="l">
              <a:lnSpc>
                <a:spcPts val="2950"/>
              </a:lnSpc>
              <a:buNone/>
            </a:pPr>
            <a:r>
              <a:rPr lang="en-US" sz="1850" dirty="0">
                <a:solidFill>
                  <a:srgbClr val="00002E"/>
                </a:solidFill>
                <a:latin typeface="PT Sans" pitchFamily="34" charset="0"/>
                <a:ea typeface="PT Sans" pitchFamily="34" charset="-122"/>
                <a:cs typeface="PT Sans" pitchFamily="34" charset="-120"/>
              </a:rPr>
              <a:t>NoSQL database storing user profiles, medication records, prescriptions, and transaction history.</a:t>
            </a:r>
            <a:endParaRPr lang="en-US" sz="1850" dirty="0"/>
          </a:p>
        </p:txBody>
      </p:sp>
      <p:sp>
        <p:nvSpPr>
          <p:cNvPr id="13" name="Rectangle 12">
            <a:extLst>
              <a:ext uri="{FF2B5EF4-FFF2-40B4-BE49-F238E27FC236}">
                <a16:creationId xmlns:a16="http://schemas.microsoft.com/office/drawing/2014/main" id="{F015A90E-CCC1-B8CF-E81B-1C70C14DC69D}"/>
              </a:ext>
            </a:extLst>
          </p:cNvPr>
          <p:cNvSpPr/>
          <p:nvPr/>
        </p:nvSpPr>
        <p:spPr>
          <a:xfrm>
            <a:off x="12906375" y="7590829"/>
            <a:ext cx="1600200" cy="533995"/>
          </a:xfrm>
          <a:prstGeom prst="rect">
            <a:avLst/>
          </a:prstGeom>
          <a:solidFill>
            <a:srgbClr val="F3F3FF"/>
          </a:solidFill>
          <a:ln>
            <a:solidFill>
              <a:srgbClr val="F3F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Rectangle 13">
            <a:extLst>
              <a:ext uri="{FF2B5EF4-FFF2-40B4-BE49-F238E27FC236}">
                <a16:creationId xmlns:a16="http://schemas.microsoft.com/office/drawing/2014/main" id="{A18C5B31-1944-8D1A-5D5A-9EF58B191542}"/>
              </a:ext>
            </a:extLst>
          </p:cNvPr>
          <p:cNvSpPr/>
          <p:nvPr/>
        </p:nvSpPr>
        <p:spPr>
          <a:xfrm>
            <a:off x="0" y="0"/>
            <a:ext cx="6126480" cy="8229600"/>
          </a:xfrm>
          <a:prstGeom prst="rect">
            <a:avLst/>
          </a:prstGeom>
          <a:solidFill>
            <a:srgbClr val="8CD6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6" name="Picture 15">
            <a:extLst>
              <a:ext uri="{FF2B5EF4-FFF2-40B4-BE49-F238E27FC236}">
                <a16:creationId xmlns:a16="http://schemas.microsoft.com/office/drawing/2014/main" id="{FDAF1EB9-9AEF-FD3D-124F-D7E8989B113C}"/>
              </a:ext>
            </a:extLst>
          </p:cNvPr>
          <p:cNvPicPr>
            <a:picLocks noChangeAspect="1"/>
          </p:cNvPicPr>
          <p:nvPr/>
        </p:nvPicPr>
        <p:blipFill>
          <a:blip r:embed="rId7"/>
          <a:stretch>
            <a:fillRect/>
          </a:stretch>
        </p:blipFill>
        <p:spPr>
          <a:xfrm>
            <a:off x="260613" y="4286448"/>
            <a:ext cx="5610359" cy="3709472"/>
          </a:xfrm>
          <a:prstGeom prst="rect">
            <a:avLst/>
          </a:prstGeom>
        </p:spPr>
      </p:pic>
      <p:pic>
        <p:nvPicPr>
          <p:cNvPr id="20" name="Picture 19">
            <a:extLst>
              <a:ext uri="{FF2B5EF4-FFF2-40B4-BE49-F238E27FC236}">
                <a16:creationId xmlns:a16="http://schemas.microsoft.com/office/drawing/2014/main" id="{336E6FA5-F75C-4482-D448-84DB0E5B1288}"/>
              </a:ext>
            </a:extLst>
          </p:cNvPr>
          <p:cNvPicPr>
            <a:picLocks noChangeAspect="1"/>
          </p:cNvPicPr>
          <p:nvPr/>
        </p:nvPicPr>
        <p:blipFill>
          <a:blip r:embed="rId8"/>
          <a:stretch>
            <a:fillRect/>
          </a:stretch>
        </p:blipFill>
        <p:spPr>
          <a:xfrm>
            <a:off x="250983" y="304800"/>
            <a:ext cx="5610359" cy="380616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6FC2174-37DC-4B2C-5668-09710CDDCA99}"/>
              </a:ext>
            </a:extLst>
          </p:cNvPr>
          <p:cNvSpPr/>
          <p:nvPr/>
        </p:nvSpPr>
        <p:spPr>
          <a:xfrm>
            <a:off x="0" y="0"/>
            <a:ext cx="14633910" cy="8229600"/>
          </a:xfrm>
          <a:prstGeom prst="rect">
            <a:avLst/>
          </a:prstGeom>
          <a:solidFill>
            <a:srgbClr val="8CD6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 0"/>
          <p:cNvSpPr/>
          <p:nvPr/>
        </p:nvSpPr>
        <p:spPr>
          <a:xfrm>
            <a:off x="1532969" y="383665"/>
            <a:ext cx="11564461" cy="754900"/>
          </a:xfrm>
          <a:prstGeom prst="rect">
            <a:avLst/>
          </a:prstGeom>
          <a:noFill/>
          <a:ln/>
        </p:spPr>
        <p:txBody>
          <a:bodyPr wrap="none" lIns="0" tIns="0" rIns="0" bIns="0" rtlCol="0" anchor="t"/>
          <a:lstStyle/>
          <a:p>
            <a:pPr>
              <a:lnSpc>
                <a:spcPts val="5500"/>
              </a:lnSpc>
            </a:pPr>
            <a:r>
              <a:rPr lang="en-US" sz="3200" dirty="0">
                <a:solidFill>
                  <a:srgbClr val="00002E"/>
                </a:solidFill>
                <a:latin typeface="Nunito Semi Bold" pitchFamily="34" charset="0"/>
                <a:ea typeface="Nunito Semi Bold" pitchFamily="34" charset="-122"/>
                <a:cs typeface="Nunito Semi Bold" pitchFamily="34" charset="-120"/>
              </a:rPr>
              <a:t>System Workflow Of Online Medication &amp; Prescription Tracker</a:t>
            </a:r>
            <a:endParaRPr lang="en-US" sz="3200" dirty="0"/>
          </a:p>
          <a:p>
            <a:pPr marL="0" indent="0" algn="l">
              <a:lnSpc>
                <a:spcPts val="5500"/>
              </a:lnSpc>
              <a:buNone/>
            </a:pPr>
            <a:endParaRPr lang="en-US" sz="4400" dirty="0"/>
          </a:p>
        </p:txBody>
      </p:sp>
      <p:pic>
        <p:nvPicPr>
          <p:cNvPr id="3" name="Image 0" descr="preencoded.png"/>
          <p:cNvPicPr>
            <a:picLocks noChangeAspect="1"/>
          </p:cNvPicPr>
          <p:nvPr/>
        </p:nvPicPr>
        <p:blipFill>
          <a:blip r:embed="rId3"/>
          <a:stretch>
            <a:fillRect/>
          </a:stretch>
        </p:blipFill>
        <p:spPr>
          <a:xfrm>
            <a:off x="800100" y="1423818"/>
            <a:ext cx="13436858" cy="5042123"/>
          </a:xfrm>
          <a:prstGeom prst="rect">
            <a:avLst/>
          </a:prstGeom>
        </p:spPr>
      </p:pic>
      <p:sp>
        <p:nvSpPr>
          <p:cNvPr id="5" name="Text 1"/>
          <p:cNvSpPr/>
          <p:nvPr/>
        </p:nvSpPr>
        <p:spPr>
          <a:xfrm>
            <a:off x="11808773" y="4962874"/>
            <a:ext cx="1891408" cy="342697"/>
          </a:xfrm>
          <a:prstGeom prst="rect">
            <a:avLst/>
          </a:prstGeom>
          <a:noFill/>
          <a:ln/>
        </p:spPr>
        <p:txBody>
          <a:bodyPr wrap="none" lIns="0" tIns="0" rIns="0" bIns="0" rtlCol="0" anchor="t"/>
          <a:lstStyle/>
          <a:p>
            <a:pPr marL="0" indent="0" algn="ctr">
              <a:lnSpc>
                <a:spcPts val="2700"/>
              </a:lnSpc>
              <a:buNone/>
            </a:pPr>
            <a:r>
              <a:rPr lang="en-US" sz="2150" dirty="0">
                <a:solidFill>
                  <a:srgbClr val="00002E"/>
                </a:solidFill>
                <a:latin typeface="Nunito Semi Bold" pitchFamily="34" charset="0"/>
                <a:ea typeface="Nunito Semi Bold" pitchFamily="34" charset="-122"/>
                <a:cs typeface="Nunito Semi Bold" pitchFamily="34" charset="-120"/>
              </a:rPr>
              <a:t>Prescribe</a:t>
            </a:r>
            <a:endParaRPr lang="en-US" sz="2150" dirty="0"/>
          </a:p>
        </p:txBody>
      </p:sp>
      <p:sp>
        <p:nvSpPr>
          <p:cNvPr id="7" name="Text 2"/>
          <p:cNvSpPr/>
          <p:nvPr/>
        </p:nvSpPr>
        <p:spPr>
          <a:xfrm>
            <a:off x="9190799" y="4962873"/>
            <a:ext cx="1891408" cy="342697"/>
          </a:xfrm>
          <a:prstGeom prst="rect">
            <a:avLst/>
          </a:prstGeom>
          <a:noFill/>
          <a:ln/>
        </p:spPr>
        <p:txBody>
          <a:bodyPr wrap="none" lIns="0" tIns="0" rIns="0" bIns="0" rtlCol="0" anchor="t"/>
          <a:lstStyle/>
          <a:p>
            <a:pPr marL="0" indent="0" algn="ctr">
              <a:lnSpc>
                <a:spcPts val="2700"/>
              </a:lnSpc>
              <a:buNone/>
            </a:pPr>
            <a:r>
              <a:rPr lang="en-US" sz="2150" dirty="0">
                <a:solidFill>
                  <a:srgbClr val="00002E"/>
                </a:solidFill>
                <a:latin typeface="Nunito Semi Bold" pitchFamily="34" charset="0"/>
                <a:ea typeface="Nunito Semi Bold" pitchFamily="34" charset="-122"/>
                <a:cs typeface="Nunito Semi Bold" pitchFamily="34" charset="-120"/>
              </a:rPr>
              <a:t>Track</a:t>
            </a:r>
            <a:endParaRPr lang="en-US" sz="2150" dirty="0"/>
          </a:p>
        </p:txBody>
      </p:sp>
      <p:sp>
        <p:nvSpPr>
          <p:cNvPr id="9" name="Text 3"/>
          <p:cNvSpPr/>
          <p:nvPr/>
        </p:nvSpPr>
        <p:spPr>
          <a:xfrm>
            <a:off x="6762614" y="4932688"/>
            <a:ext cx="1891408" cy="342697"/>
          </a:xfrm>
          <a:prstGeom prst="rect">
            <a:avLst/>
          </a:prstGeom>
          <a:noFill/>
          <a:ln/>
        </p:spPr>
        <p:txBody>
          <a:bodyPr wrap="none" lIns="0" tIns="0" rIns="0" bIns="0" rtlCol="0" anchor="t"/>
          <a:lstStyle/>
          <a:p>
            <a:pPr marL="0" indent="0" algn="ctr">
              <a:lnSpc>
                <a:spcPts val="2700"/>
              </a:lnSpc>
              <a:buNone/>
            </a:pPr>
            <a:r>
              <a:rPr lang="en-US" sz="2150" dirty="0">
                <a:solidFill>
                  <a:srgbClr val="00002E"/>
                </a:solidFill>
                <a:latin typeface="Nunito Semi Bold" pitchFamily="34" charset="0"/>
                <a:ea typeface="Nunito Semi Bold" pitchFamily="34" charset="-122"/>
                <a:cs typeface="Nunito Semi Bold" pitchFamily="34" charset="-120"/>
              </a:rPr>
              <a:t>Profile</a:t>
            </a:r>
            <a:endParaRPr lang="en-US" sz="2150" dirty="0"/>
          </a:p>
        </p:txBody>
      </p:sp>
      <p:sp>
        <p:nvSpPr>
          <p:cNvPr id="11" name="Text 4"/>
          <p:cNvSpPr/>
          <p:nvPr/>
        </p:nvSpPr>
        <p:spPr>
          <a:xfrm>
            <a:off x="4144640" y="4922915"/>
            <a:ext cx="1891408" cy="342697"/>
          </a:xfrm>
          <a:prstGeom prst="rect">
            <a:avLst/>
          </a:prstGeom>
          <a:noFill/>
          <a:ln/>
        </p:spPr>
        <p:txBody>
          <a:bodyPr wrap="none" lIns="0" tIns="0" rIns="0" bIns="0" rtlCol="0" anchor="t"/>
          <a:lstStyle/>
          <a:p>
            <a:pPr marL="0" indent="0" algn="ctr">
              <a:lnSpc>
                <a:spcPts val="2700"/>
              </a:lnSpc>
              <a:buNone/>
            </a:pPr>
            <a:r>
              <a:rPr lang="en-US" sz="2150" dirty="0">
                <a:solidFill>
                  <a:srgbClr val="00002E"/>
                </a:solidFill>
                <a:latin typeface="Nunito Semi Bold" pitchFamily="34" charset="0"/>
                <a:ea typeface="Nunito Semi Bold" pitchFamily="34" charset="-122"/>
                <a:cs typeface="Nunito Semi Bold" pitchFamily="34" charset="-120"/>
              </a:rPr>
              <a:t>Authenticate</a:t>
            </a:r>
            <a:endParaRPr lang="en-US" sz="2150" dirty="0"/>
          </a:p>
        </p:txBody>
      </p:sp>
      <p:sp>
        <p:nvSpPr>
          <p:cNvPr id="13" name="Text 5"/>
          <p:cNvSpPr/>
          <p:nvPr/>
        </p:nvSpPr>
        <p:spPr>
          <a:xfrm>
            <a:off x="1750528" y="4922914"/>
            <a:ext cx="1544647" cy="342697"/>
          </a:xfrm>
          <a:prstGeom prst="rect">
            <a:avLst/>
          </a:prstGeom>
          <a:noFill/>
          <a:ln/>
        </p:spPr>
        <p:txBody>
          <a:bodyPr wrap="none" lIns="0" tIns="0" rIns="0" bIns="0" rtlCol="0" anchor="t"/>
          <a:lstStyle/>
          <a:p>
            <a:pPr algn="ctr">
              <a:lnSpc>
                <a:spcPts val="2700"/>
              </a:lnSpc>
            </a:pPr>
            <a:r>
              <a:rPr lang="en-US" sz="2150" dirty="0">
                <a:solidFill>
                  <a:srgbClr val="00002E"/>
                </a:solidFill>
                <a:latin typeface="Nunito Semi Bold" pitchFamily="34" charset="0"/>
                <a:ea typeface="Nunito Semi Bold" pitchFamily="34" charset="-122"/>
                <a:cs typeface="Nunito Semi Bold" pitchFamily="34" charset="-120"/>
              </a:rPr>
              <a:t>Registers</a:t>
            </a:r>
            <a:endParaRPr lang="en-US" sz="2150" dirty="0"/>
          </a:p>
        </p:txBody>
      </p:sp>
      <p:sp>
        <p:nvSpPr>
          <p:cNvPr id="18" name="TextBox 17">
            <a:extLst>
              <a:ext uri="{FF2B5EF4-FFF2-40B4-BE49-F238E27FC236}">
                <a16:creationId xmlns:a16="http://schemas.microsoft.com/office/drawing/2014/main" id="{F4473735-BB80-A786-68CD-C7C1079A295E}"/>
              </a:ext>
            </a:extLst>
          </p:cNvPr>
          <p:cNvSpPr txBox="1"/>
          <p:nvPr/>
        </p:nvSpPr>
        <p:spPr>
          <a:xfrm>
            <a:off x="11755528" y="5727402"/>
            <a:ext cx="2874872" cy="830997"/>
          </a:xfrm>
          <a:prstGeom prst="rect">
            <a:avLst/>
          </a:prstGeom>
          <a:noFill/>
        </p:spPr>
        <p:txBody>
          <a:bodyPr wrap="square" rtlCol="0">
            <a:spAutoFit/>
          </a:bodyPr>
          <a:lstStyle/>
          <a:p>
            <a:r>
              <a:rPr lang="en-US" sz="1600" dirty="0"/>
              <a:t>while doctors </a:t>
            </a:r>
            <a:r>
              <a:rPr lang="en-US" sz="1600" b="1" dirty="0"/>
              <a:t>prescribe</a:t>
            </a:r>
            <a:r>
              <a:rPr lang="en-US" sz="1600" dirty="0"/>
              <a:t> medicines by adding prescription details for patients.</a:t>
            </a:r>
            <a:endParaRPr lang="en-IN" sz="1600" dirty="0"/>
          </a:p>
        </p:txBody>
      </p:sp>
      <p:sp>
        <p:nvSpPr>
          <p:cNvPr id="4" name="TextBox 3">
            <a:extLst>
              <a:ext uri="{FF2B5EF4-FFF2-40B4-BE49-F238E27FC236}">
                <a16:creationId xmlns:a16="http://schemas.microsoft.com/office/drawing/2014/main" id="{9891A786-0D22-5FD7-1640-1E3DEED95069}"/>
              </a:ext>
            </a:extLst>
          </p:cNvPr>
          <p:cNvSpPr txBox="1"/>
          <p:nvPr/>
        </p:nvSpPr>
        <p:spPr>
          <a:xfrm>
            <a:off x="1532969" y="5694536"/>
            <a:ext cx="2213121" cy="1569660"/>
          </a:xfrm>
          <a:prstGeom prst="rect">
            <a:avLst/>
          </a:prstGeom>
          <a:noFill/>
        </p:spPr>
        <p:txBody>
          <a:bodyPr wrap="square" rtlCol="0">
            <a:spAutoFit/>
          </a:bodyPr>
          <a:lstStyle/>
          <a:p>
            <a:r>
              <a:rPr lang="en-US" sz="1600" dirty="0"/>
              <a:t>The workflow starts with </a:t>
            </a:r>
            <a:r>
              <a:rPr lang="en-US" sz="1600" b="1" dirty="0"/>
              <a:t>registration</a:t>
            </a:r>
            <a:r>
              <a:rPr lang="en-US" sz="1600" dirty="0"/>
              <a:t>, where users create an account by selecting their role such as doctor, patient, or admin.</a:t>
            </a:r>
            <a:endParaRPr lang="en-IN" sz="1600" dirty="0"/>
          </a:p>
        </p:txBody>
      </p:sp>
      <p:sp>
        <p:nvSpPr>
          <p:cNvPr id="6" name="TextBox 5">
            <a:extLst>
              <a:ext uri="{FF2B5EF4-FFF2-40B4-BE49-F238E27FC236}">
                <a16:creationId xmlns:a16="http://schemas.microsoft.com/office/drawing/2014/main" id="{BC6ACEC0-544B-EF10-CE1B-7080DBECFA55}"/>
              </a:ext>
            </a:extLst>
          </p:cNvPr>
          <p:cNvSpPr txBox="1"/>
          <p:nvPr/>
        </p:nvSpPr>
        <p:spPr>
          <a:xfrm>
            <a:off x="3905104" y="5727402"/>
            <a:ext cx="2561953" cy="1077218"/>
          </a:xfrm>
          <a:prstGeom prst="rect">
            <a:avLst/>
          </a:prstGeom>
          <a:noFill/>
        </p:spPr>
        <p:txBody>
          <a:bodyPr wrap="square" rtlCol="0">
            <a:spAutoFit/>
          </a:bodyPr>
          <a:lstStyle/>
          <a:p>
            <a:r>
              <a:rPr lang="en-US" sz="1600" dirty="0"/>
              <a:t>After that, they </a:t>
            </a:r>
            <a:r>
              <a:rPr lang="en-US" sz="1600" b="1" dirty="0"/>
              <a:t>authenticate</a:t>
            </a:r>
            <a:r>
              <a:rPr lang="en-US" sz="1600" dirty="0"/>
              <a:t> by logging in with their email and password</a:t>
            </a:r>
            <a:endParaRPr lang="en-IN" sz="1600" dirty="0"/>
          </a:p>
        </p:txBody>
      </p:sp>
      <p:sp>
        <p:nvSpPr>
          <p:cNvPr id="10" name="TextBox 9">
            <a:extLst>
              <a:ext uri="{FF2B5EF4-FFF2-40B4-BE49-F238E27FC236}">
                <a16:creationId xmlns:a16="http://schemas.microsoft.com/office/drawing/2014/main" id="{4BD53BA9-DE4C-F268-ACC0-3F5FED9CB601}"/>
              </a:ext>
            </a:extLst>
          </p:cNvPr>
          <p:cNvSpPr txBox="1"/>
          <p:nvPr/>
        </p:nvSpPr>
        <p:spPr>
          <a:xfrm>
            <a:off x="6762614" y="5727402"/>
            <a:ext cx="2485657" cy="830997"/>
          </a:xfrm>
          <a:prstGeom prst="rect">
            <a:avLst/>
          </a:prstGeom>
          <a:noFill/>
        </p:spPr>
        <p:txBody>
          <a:bodyPr wrap="square" rtlCol="0">
            <a:spAutoFit/>
          </a:bodyPr>
          <a:lstStyle/>
          <a:p>
            <a:r>
              <a:rPr lang="en-US" sz="1600" dirty="0"/>
              <a:t>Once logged in, users manage their </a:t>
            </a:r>
            <a:r>
              <a:rPr lang="en-US" sz="1600" b="1" dirty="0"/>
              <a:t>profile</a:t>
            </a:r>
            <a:r>
              <a:rPr lang="en-US" sz="1600" dirty="0"/>
              <a:t> information.</a:t>
            </a:r>
            <a:endParaRPr lang="en-IN" sz="1600" dirty="0"/>
          </a:p>
        </p:txBody>
      </p:sp>
      <p:sp>
        <p:nvSpPr>
          <p:cNvPr id="12" name="TextBox 11">
            <a:extLst>
              <a:ext uri="{FF2B5EF4-FFF2-40B4-BE49-F238E27FC236}">
                <a16:creationId xmlns:a16="http://schemas.microsoft.com/office/drawing/2014/main" id="{DE9BC4EF-3094-66AF-5428-C5C9468272A5}"/>
              </a:ext>
            </a:extLst>
          </p:cNvPr>
          <p:cNvSpPr txBox="1"/>
          <p:nvPr/>
        </p:nvSpPr>
        <p:spPr>
          <a:xfrm>
            <a:off x="9190799" y="5694536"/>
            <a:ext cx="2485657" cy="830997"/>
          </a:xfrm>
          <a:prstGeom prst="rect">
            <a:avLst/>
          </a:prstGeom>
          <a:noFill/>
        </p:spPr>
        <p:txBody>
          <a:bodyPr wrap="square" rtlCol="0">
            <a:spAutoFit/>
          </a:bodyPr>
          <a:lstStyle/>
          <a:p>
            <a:r>
              <a:rPr lang="en-US" sz="1600" dirty="0"/>
              <a:t>Patients can then </a:t>
            </a:r>
            <a:r>
              <a:rPr lang="en-US" sz="1600" b="1" dirty="0"/>
              <a:t>track</a:t>
            </a:r>
            <a:r>
              <a:rPr lang="en-US" sz="1600" dirty="0"/>
              <a:t> their medications and schedules</a:t>
            </a:r>
            <a:endParaRPr lang="en-IN"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85A1D-1470-4D3C-101E-3E446C812F37}"/>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3A93F8A3-D42C-D23C-5B58-EA501C87BBCE}"/>
              </a:ext>
            </a:extLst>
          </p:cNvPr>
          <p:cNvSpPr/>
          <p:nvPr/>
        </p:nvSpPr>
        <p:spPr>
          <a:xfrm>
            <a:off x="0" y="0"/>
            <a:ext cx="14633910" cy="8229600"/>
          </a:xfrm>
          <a:prstGeom prst="rect">
            <a:avLst/>
          </a:prstGeom>
          <a:solidFill>
            <a:srgbClr val="8CD6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a:extLst>
              <a:ext uri="{FF2B5EF4-FFF2-40B4-BE49-F238E27FC236}">
                <a16:creationId xmlns:a16="http://schemas.microsoft.com/office/drawing/2014/main" id="{908999F7-A771-8E4D-73D7-E1A4E087FD4D}"/>
              </a:ext>
            </a:extLst>
          </p:cNvPr>
          <p:cNvSpPr/>
          <p:nvPr/>
        </p:nvSpPr>
        <p:spPr>
          <a:xfrm>
            <a:off x="6509904" y="3863072"/>
            <a:ext cx="1421964" cy="503456"/>
          </a:xfrm>
          <a:prstGeom prst="rect">
            <a:avLst/>
          </a:prstGeom>
          <a:noFill/>
          <a:ln/>
        </p:spPr>
        <p:txBody>
          <a:bodyPr wrap="none" lIns="0" tIns="0" rIns="0" bIns="0" rtlCol="0" anchor="t"/>
          <a:lstStyle/>
          <a:p>
            <a:pPr marL="0" indent="0" algn="l">
              <a:lnSpc>
                <a:spcPts val="3250"/>
              </a:lnSpc>
              <a:buNone/>
            </a:pPr>
            <a:endParaRPr lang="en-US" sz="6000" b="1" dirty="0"/>
          </a:p>
        </p:txBody>
      </p:sp>
      <p:sp>
        <p:nvSpPr>
          <p:cNvPr id="3" name="TextBox 2">
            <a:extLst>
              <a:ext uri="{FF2B5EF4-FFF2-40B4-BE49-F238E27FC236}">
                <a16:creationId xmlns:a16="http://schemas.microsoft.com/office/drawing/2014/main" id="{DA0069DC-7561-48B5-CECA-9C163DE63BD4}"/>
              </a:ext>
            </a:extLst>
          </p:cNvPr>
          <p:cNvSpPr txBox="1"/>
          <p:nvPr/>
        </p:nvSpPr>
        <p:spPr>
          <a:xfrm>
            <a:off x="8820150" y="1121330"/>
            <a:ext cx="2404826" cy="369332"/>
          </a:xfrm>
          <a:prstGeom prst="rect">
            <a:avLst/>
          </a:prstGeom>
          <a:noFill/>
        </p:spPr>
        <p:txBody>
          <a:bodyPr wrap="none" rtlCol="0">
            <a:spAutoFit/>
          </a:bodyPr>
          <a:lstStyle/>
          <a:p>
            <a:r>
              <a:rPr lang="en-IN" b="1" dirty="0"/>
              <a:t>Figure 1: User Interface</a:t>
            </a:r>
          </a:p>
        </p:txBody>
      </p:sp>
      <p:sp>
        <p:nvSpPr>
          <p:cNvPr id="17" name="Arrow: Chevron 16">
            <a:extLst>
              <a:ext uri="{FF2B5EF4-FFF2-40B4-BE49-F238E27FC236}">
                <a16:creationId xmlns:a16="http://schemas.microsoft.com/office/drawing/2014/main" id="{D21F1031-CDBF-5353-674E-BA983BCA59EB}"/>
              </a:ext>
            </a:extLst>
          </p:cNvPr>
          <p:cNvSpPr/>
          <p:nvPr/>
        </p:nvSpPr>
        <p:spPr>
          <a:xfrm>
            <a:off x="8620125" y="1244084"/>
            <a:ext cx="200025" cy="123825"/>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25" name="Picture 24">
            <a:extLst>
              <a:ext uri="{FF2B5EF4-FFF2-40B4-BE49-F238E27FC236}">
                <a16:creationId xmlns:a16="http://schemas.microsoft.com/office/drawing/2014/main" id="{A475E29D-6A33-CBBB-AB11-2D0643505508}"/>
              </a:ext>
            </a:extLst>
          </p:cNvPr>
          <p:cNvPicPr>
            <a:picLocks noChangeAspect="1"/>
          </p:cNvPicPr>
          <p:nvPr/>
        </p:nvPicPr>
        <p:blipFill>
          <a:blip r:embed="rId3"/>
          <a:stretch>
            <a:fillRect/>
          </a:stretch>
        </p:blipFill>
        <p:spPr>
          <a:xfrm>
            <a:off x="414073" y="4297276"/>
            <a:ext cx="6977328" cy="3470498"/>
          </a:xfrm>
          <a:prstGeom prst="rect">
            <a:avLst/>
          </a:prstGeom>
        </p:spPr>
      </p:pic>
      <p:pic>
        <p:nvPicPr>
          <p:cNvPr id="27" name="Picture 26">
            <a:extLst>
              <a:ext uri="{FF2B5EF4-FFF2-40B4-BE49-F238E27FC236}">
                <a16:creationId xmlns:a16="http://schemas.microsoft.com/office/drawing/2014/main" id="{250D192F-94EA-573D-CB8A-0606E1849C98}"/>
              </a:ext>
            </a:extLst>
          </p:cNvPr>
          <p:cNvPicPr>
            <a:picLocks noChangeAspect="1"/>
          </p:cNvPicPr>
          <p:nvPr/>
        </p:nvPicPr>
        <p:blipFill>
          <a:blip r:embed="rId4"/>
          <a:stretch>
            <a:fillRect/>
          </a:stretch>
        </p:blipFill>
        <p:spPr>
          <a:xfrm>
            <a:off x="414072" y="266700"/>
            <a:ext cx="6977328" cy="3596372"/>
          </a:xfrm>
          <a:prstGeom prst="rect">
            <a:avLst/>
          </a:prstGeom>
        </p:spPr>
      </p:pic>
      <p:sp>
        <p:nvSpPr>
          <p:cNvPr id="28" name="TextBox 27">
            <a:extLst>
              <a:ext uri="{FF2B5EF4-FFF2-40B4-BE49-F238E27FC236}">
                <a16:creationId xmlns:a16="http://schemas.microsoft.com/office/drawing/2014/main" id="{C1DB2C3F-6486-0B20-0D54-4F4E45959BA2}"/>
              </a:ext>
            </a:extLst>
          </p:cNvPr>
          <p:cNvSpPr txBox="1"/>
          <p:nvPr/>
        </p:nvSpPr>
        <p:spPr>
          <a:xfrm>
            <a:off x="8820150" y="5138857"/>
            <a:ext cx="4029237" cy="1846659"/>
          </a:xfrm>
          <a:prstGeom prst="rect">
            <a:avLst/>
          </a:prstGeom>
          <a:noFill/>
        </p:spPr>
        <p:txBody>
          <a:bodyPr wrap="square" rtlCol="0">
            <a:spAutoFit/>
          </a:bodyPr>
          <a:lstStyle/>
          <a:p>
            <a:r>
              <a:rPr lang="en-US" sz="1600" dirty="0"/>
              <a:t>This page allows users to register as a doctor, patient, or admin. </a:t>
            </a:r>
          </a:p>
          <a:p>
            <a:r>
              <a:rPr lang="en-US" sz="1600" dirty="0"/>
              <a:t>Doctors provide details like specialization and experience, patients enter personal information such as date of birth, and admins manage and verify user accounts.</a:t>
            </a:r>
          </a:p>
          <a:p>
            <a:endParaRPr lang="en-IN" dirty="0"/>
          </a:p>
        </p:txBody>
      </p:sp>
      <p:sp>
        <p:nvSpPr>
          <p:cNvPr id="29" name="TextBox 28">
            <a:extLst>
              <a:ext uri="{FF2B5EF4-FFF2-40B4-BE49-F238E27FC236}">
                <a16:creationId xmlns:a16="http://schemas.microsoft.com/office/drawing/2014/main" id="{E8991F25-1FC3-F35E-75DD-48C8C42CA7DA}"/>
              </a:ext>
            </a:extLst>
          </p:cNvPr>
          <p:cNvSpPr txBox="1"/>
          <p:nvPr/>
        </p:nvSpPr>
        <p:spPr>
          <a:xfrm>
            <a:off x="9144000" y="4663322"/>
            <a:ext cx="3605154" cy="369332"/>
          </a:xfrm>
          <a:prstGeom prst="rect">
            <a:avLst/>
          </a:prstGeom>
          <a:noFill/>
        </p:spPr>
        <p:txBody>
          <a:bodyPr wrap="none" rtlCol="0">
            <a:spAutoFit/>
          </a:bodyPr>
          <a:lstStyle/>
          <a:p>
            <a:r>
              <a:rPr lang="en-IN" b="1" dirty="0"/>
              <a:t>Figure 2: User Registration Interface</a:t>
            </a:r>
          </a:p>
        </p:txBody>
      </p:sp>
      <p:sp>
        <p:nvSpPr>
          <p:cNvPr id="30" name="Arrow: Chevron 29">
            <a:extLst>
              <a:ext uri="{FF2B5EF4-FFF2-40B4-BE49-F238E27FC236}">
                <a16:creationId xmlns:a16="http://schemas.microsoft.com/office/drawing/2014/main" id="{9C81BDD6-C4DC-3452-8C02-BB3B031A1B33}"/>
              </a:ext>
            </a:extLst>
          </p:cNvPr>
          <p:cNvSpPr/>
          <p:nvPr/>
        </p:nvSpPr>
        <p:spPr>
          <a:xfrm>
            <a:off x="8943975" y="4786075"/>
            <a:ext cx="200025" cy="123825"/>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TextBox 30">
            <a:extLst>
              <a:ext uri="{FF2B5EF4-FFF2-40B4-BE49-F238E27FC236}">
                <a16:creationId xmlns:a16="http://schemas.microsoft.com/office/drawing/2014/main" id="{1C8FB1FB-26D9-ABF8-CA33-2D88A68B781A}"/>
              </a:ext>
            </a:extLst>
          </p:cNvPr>
          <p:cNvSpPr txBox="1"/>
          <p:nvPr/>
        </p:nvSpPr>
        <p:spPr>
          <a:xfrm>
            <a:off x="8496300" y="1727715"/>
            <a:ext cx="4829175" cy="1600438"/>
          </a:xfrm>
          <a:prstGeom prst="rect">
            <a:avLst/>
          </a:prstGeom>
          <a:noFill/>
        </p:spPr>
        <p:txBody>
          <a:bodyPr wrap="square" rtlCol="0">
            <a:spAutoFit/>
          </a:bodyPr>
          <a:lstStyle/>
          <a:p>
            <a:r>
              <a:rPr lang="en-US" sz="1600" dirty="0"/>
              <a:t>This figure shows the main interface of the Online Medication and Prescription Tracker. It provides users with easy access to features such as registration, login, medication tracking, and prescription management through a simple and user-friendly design.</a:t>
            </a:r>
          </a:p>
          <a:p>
            <a:endParaRPr lang="en-IN" dirty="0"/>
          </a:p>
        </p:txBody>
      </p:sp>
    </p:spTree>
    <p:extLst>
      <p:ext uri="{BB962C8B-B14F-4D97-AF65-F5344CB8AC3E}">
        <p14:creationId xmlns:p14="http://schemas.microsoft.com/office/powerpoint/2010/main" val="284218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6BD7C-BEF2-22C8-8EE4-E06F4158ACF9}"/>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E93A91A4-E5A1-7243-D96C-43AD3936AD28}"/>
              </a:ext>
            </a:extLst>
          </p:cNvPr>
          <p:cNvSpPr/>
          <p:nvPr/>
        </p:nvSpPr>
        <p:spPr>
          <a:xfrm>
            <a:off x="0" y="0"/>
            <a:ext cx="14633910" cy="8229600"/>
          </a:xfrm>
          <a:prstGeom prst="rect">
            <a:avLst/>
          </a:prstGeom>
          <a:solidFill>
            <a:srgbClr val="8CD6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a:extLst>
              <a:ext uri="{FF2B5EF4-FFF2-40B4-BE49-F238E27FC236}">
                <a16:creationId xmlns:a16="http://schemas.microsoft.com/office/drawing/2014/main" id="{1A122AEF-38F4-A536-BBD6-ADA8CB740559}"/>
              </a:ext>
            </a:extLst>
          </p:cNvPr>
          <p:cNvSpPr/>
          <p:nvPr/>
        </p:nvSpPr>
        <p:spPr>
          <a:xfrm>
            <a:off x="6509904" y="3863072"/>
            <a:ext cx="1421964" cy="503456"/>
          </a:xfrm>
          <a:prstGeom prst="rect">
            <a:avLst/>
          </a:prstGeom>
          <a:noFill/>
          <a:ln/>
        </p:spPr>
        <p:txBody>
          <a:bodyPr wrap="none" lIns="0" tIns="0" rIns="0" bIns="0" rtlCol="0" anchor="t"/>
          <a:lstStyle/>
          <a:p>
            <a:pPr marL="0" indent="0" algn="l">
              <a:lnSpc>
                <a:spcPts val="3250"/>
              </a:lnSpc>
              <a:buNone/>
            </a:pPr>
            <a:endParaRPr lang="en-US" sz="6000" b="1" dirty="0"/>
          </a:p>
        </p:txBody>
      </p:sp>
      <p:sp>
        <p:nvSpPr>
          <p:cNvPr id="13" name="TextBox 12">
            <a:extLst>
              <a:ext uri="{FF2B5EF4-FFF2-40B4-BE49-F238E27FC236}">
                <a16:creationId xmlns:a16="http://schemas.microsoft.com/office/drawing/2014/main" id="{4F8F15AE-D6F4-1D05-8751-B4A2435BB3B9}"/>
              </a:ext>
            </a:extLst>
          </p:cNvPr>
          <p:cNvSpPr txBox="1"/>
          <p:nvPr/>
        </p:nvSpPr>
        <p:spPr>
          <a:xfrm>
            <a:off x="9158288" y="4609063"/>
            <a:ext cx="2799549" cy="369332"/>
          </a:xfrm>
          <a:prstGeom prst="rect">
            <a:avLst/>
          </a:prstGeom>
          <a:noFill/>
        </p:spPr>
        <p:txBody>
          <a:bodyPr wrap="none" rtlCol="0">
            <a:spAutoFit/>
          </a:bodyPr>
          <a:lstStyle/>
          <a:p>
            <a:r>
              <a:rPr lang="en-IN" b="1" dirty="0"/>
              <a:t>Figure 4: Doctor Dashboard</a:t>
            </a:r>
          </a:p>
        </p:txBody>
      </p:sp>
      <p:sp>
        <p:nvSpPr>
          <p:cNvPr id="15" name="Arrow: Chevron 14">
            <a:extLst>
              <a:ext uri="{FF2B5EF4-FFF2-40B4-BE49-F238E27FC236}">
                <a16:creationId xmlns:a16="http://schemas.microsoft.com/office/drawing/2014/main" id="{66B11249-4953-7265-E497-807B59507C2C}"/>
              </a:ext>
            </a:extLst>
          </p:cNvPr>
          <p:cNvSpPr/>
          <p:nvPr/>
        </p:nvSpPr>
        <p:spPr>
          <a:xfrm>
            <a:off x="8958263" y="4731816"/>
            <a:ext cx="200025" cy="123825"/>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17" name="Picture 16">
            <a:extLst>
              <a:ext uri="{FF2B5EF4-FFF2-40B4-BE49-F238E27FC236}">
                <a16:creationId xmlns:a16="http://schemas.microsoft.com/office/drawing/2014/main" id="{BB7F60B5-C8E4-D27F-8973-04E48971E56D}"/>
              </a:ext>
            </a:extLst>
          </p:cNvPr>
          <p:cNvPicPr>
            <a:picLocks noChangeAspect="1"/>
          </p:cNvPicPr>
          <p:nvPr/>
        </p:nvPicPr>
        <p:blipFill>
          <a:blip r:embed="rId3"/>
          <a:stretch>
            <a:fillRect/>
          </a:stretch>
        </p:blipFill>
        <p:spPr>
          <a:xfrm>
            <a:off x="414072" y="197668"/>
            <a:ext cx="6901128" cy="3695812"/>
          </a:xfrm>
          <a:prstGeom prst="rect">
            <a:avLst/>
          </a:prstGeom>
        </p:spPr>
      </p:pic>
      <p:pic>
        <p:nvPicPr>
          <p:cNvPr id="19" name="Picture 18">
            <a:extLst>
              <a:ext uri="{FF2B5EF4-FFF2-40B4-BE49-F238E27FC236}">
                <a16:creationId xmlns:a16="http://schemas.microsoft.com/office/drawing/2014/main" id="{D953870D-564C-8AB1-E549-866957E91AF8}"/>
              </a:ext>
            </a:extLst>
          </p:cNvPr>
          <p:cNvPicPr>
            <a:picLocks noChangeAspect="1"/>
          </p:cNvPicPr>
          <p:nvPr/>
        </p:nvPicPr>
        <p:blipFill>
          <a:blip r:embed="rId4"/>
          <a:stretch>
            <a:fillRect/>
          </a:stretch>
        </p:blipFill>
        <p:spPr>
          <a:xfrm>
            <a:off x="414072" y="4133972"/>
            <a:ext cx="6901128" cy="3897960"/>
          </a:xfrm>
          <a:prstGeom prst="rect">
            <a:avLst/>
          </a:prstGeom>
        </p:spPr>
      </p:pic>
      <p:sp>
        <p:nvSpPr>
          <p:cNvPr id="21" name="TextBox 20">
            <a:extLst>
              <a:ext uri="{FF2B5EF4-FFF2-40B4-BE49-F238E27FC236}">
                <a16:creationId xmlns:a16="http://schemas.microsoft.com/office/drawing/2014/main" id="{23867A55-6538-C815-6B46-AAFFA06DBB92}"/>
              </a:ext>
            </a:extLst>
          </p:cNvPr>
          <p:cNvSpPr txBox="1"/>
          <p:nvPr/>
        </p:nvSpPr>
        <p:spPr>
          <a:xfrm>
            <a:off x="9124951" y="913101"/>
            <a:ext cx="2967479" cy="369332"/>
          </a:xfrm>
          <a:prstGeom prst="rect">
            <a:avLst/>
          </a:prstGeom>
          <a:noFill/>
        </p:spPr>
        <p:txBody>
          <a:bodyPr wrap="none" rtlCol="0">
            <a:spAutoFit/>
          </a:bodyPr>
          <a:lstStyle/>
          <a:p>
            <a:r>
              <a:rPr lang="en-IN" b="1" dirty="0"/>
              <a:t>Figure 3: User Login Interface</a:t>
            </a:r>
          </a:p>
        </p:txBody>
      </p:sp>
      <p:sp>
        <p:nvSpPr>
          <p:cNvPr id="22" name="Arrow: Chevron 21">
            <a:extLst>
              <a:ext uri="{FF2B5EF4-FFF2-40B4-BE49-F238E27FC236}">
                <a16:creationId xmlns:a16="http://schemas.microsoft.com/office/drawing/2014/main" id="{95DE7420-A402-5EE9-055B-129B6A5E087F}"/>
              </a:ext>
            </a:extLst>
          </p:cNvPr>
          <p:cNvSpPr/>
          <p:nvPr/>
        </p:nvSpPr>
        <p:spPr>
          <a:xfrm>
            <a:off x="8924926" y="1035855"/>
            <a:ext cx="200025" cy="123825"/>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3" name="TextBox 22">
            <a:extLst>
              <a:ext uri="{FF2B5EF4-FFF2-40B4-BE49-F238E27FC236}">
                <a16:creationId xmlns:a16="http://schemas.microsoft.com/office/drawing/2014/main" id="{3AF191FB-5D3D-A564-94ED-6F94979870C1}"/>
              </a:ext>
            </a:extLst>
          </p:cNvPr>
          <p:cNvSpPr txBox="1"/>
          <p:nvPr/>
        </p:nvSpPr>
        <p:spPr>
          <a:xfrm>
            <a:off x="8824913" y="1557882"/>
            <a:ext cx="4236781" cy="923330"/>
          </a:xfrm>
          <a:prstGeom prst="rect">
            <a:avLst/>
          </a:prstGeom>
          <a:noFill/>
        </p:spPr>
        <p:txBody>
          <a:bodyPr wrap="square" rtlCol="0">
            <a:spAutoFit/>
          </a:bodyPr>
          <a:lstStyle/>
          <a:p>
            <a:r>
              <a:rPr lang="en-IN" dirty="0"/>
              <a:t>Secure authentication screen allowing users to log in using email and password with JWT-based access control.</a:t>
            </a:r>
          </a:p>
        </p:txBody>
      </p:sp>
      <p:sp>
        <p:nvSpPr>
          <p:cNvPr id="24" name="TextBox 23">
            <a:extLst>
              <a:ext uri="{FF2B5EF4-FFF2-40B4-BE49-F238E27FC236}">
                <a16:creationId xmlns:a16="http://schemas.microsoft.com/office/drawing/2014/main" id="{930D9344-E28B-2E76-9447-38052C92CB97}"/>
              </a:ext>
            </a:extLst>
          </p:cNvPr>
          <p:cNvSpPr txBox="1"/>
          <p:nvPr/>
        </p:nvSpPr>
        <p:spPr>
          <a:xfrm>
            <a:off x="8824913" y="5212497"/>
            <a:ext cx="4457700" cy="1477328"/>
          </a:xfrm>
          <a:prstGeom prst="rect">
            <a:avLst/>
          </a:prstGeom>
          <a:noFill/>
        </p:spPr>
        <p:txBody>
          <a:bodyPr wrap="square" rtlCol="0">
            <a:spAutoFit/>
          </a:bodyPr>
          <a:lstStyle/>
          <a:p>
            <a:r>
              <a:rPr lang="en-US" dirty="0"/>
              <a:t>The doctor dashboard allows doctors to manage patient records and provide prescriptions. Doctors can view patient details and update medication information for better treatment management.</a:t>
            </a:r>
            <a:endParaRPr lang="en-IN" dirty="0"/>
          </a:p>
        </p:txBody>
      </p:sp>
    </p:spTree>
    <p:extLst>
      <p:ext uri="{BB962C8B-B14F-4D97-AF65-F5344CB8AC3E}">
        <p14:creationId xmlns:p14="http://schemas.microsoft.com/office/powerpoint/2010/main" val="1638475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0EBFE-9EDE-A295-4596-74CCEC417E29}"/>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2D0EEF8E-F09F-AFE9-C05B-591EE6D56F34}"/>
              </a:ext>
            </a:extLst>
          </p:cNvPr>
          <p:cNvSpPr/>
          <p:nvPr/>
        </p:nvSpPr>
        <p:spPr>
          <a:xfrm>
            <a:off x="0" y="-30480"/>
            <a:ext cx="14633910" cy="8229600"/>
          </a:xfrm>
          <a:prstGeom prst="rect">
            <a:avLst/>
          </a:prstGeom>
          <a:solidFill>
            <a:srgbClr val="8CD6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a:extLst>
              <a:ext uri="{FF2B5EF4-FFF2-40B4-BE49-F238E27FC236}">
                <a16:creationId xmlns:a16="http://schemas.microsoft.com/office/drawing/2014/main" id="{14183E76-78E0-8151-3534-0A0C3027864D}"/>
              </a:ext>
            </a:extLst>
          </p:cNvPr>
          <p:cNvSpPr/>
          <p:nvPr/>
        </p:nvSpPr>
        <p:spPr>
          <a:xfrm>
            <a:off x="6509904" y="3863072"/>
            <a:ext cx="1421964" cy="503456"/>
          </a:xfrm>
          <a:prstGeom prst="rect">
            <a:avLst/>
          </a:prstGeom>
          <a:noFill/>
          <a:ln/>
        </p:spPr>
        <p:txBody>
          <a:bodyPr wrap="none" lIns="0" tIns="0" rIns="0" bIns="0" rtlCol="0" anchor="t"/>
          <a:lstStyle/>
          <a:p>
            <a:pPr marL="0" indent="0" algn="l">
              <a:lnSpc>
                <a:spcPts val="3250"/>
              </a:lnSpc>
              <a:buNone/>
            </a:pPr>
            <a:endParaRPr lang="en-US" sz="6000" b="1" dirty="0"/>
          </a:p>
        </p:txBody>
      </p:sp>
      <p:sp>
        <p:nvSpPr>
          <p:cNvPr id="14" name="TextBox 13">
            <a:extLst>
              <a:ext uri="{FF2B5EF4-FFF2-40B4-BE49-F238E27FC236}">
                <a16:creationId xmlns:a16="http://schemas.microsoft.com/office/drawing/2014/main" id="{79C6747C-D79C-0E3B-B8CB-A7FB288402AE}"/>
              </a:ext>
            </a:extLst>
          </p:cNvPr>
          <p:cNvSpPr txBox="1"/>
          <p:nvPr/>
        </p:nvSpPr>
        <p:spPr>
          <a:xfrm>
            <a:off x="9796463" y="5030341"/>
            <a:ext cx="2780954" cy="369332"/>
          </a:xfrm>
          <a:prstGeom prst="rect">
            <a:avLst/>
          </a:prstGeom>
          <a:noFill/>
        </p:spPr>
        <p:txBody>
          <a:bodyPr wrap="none" rtlCol="0">
            <a:spAutoFit/>
          </a:bodyPr>
          <a:lstStyle/>
          <a:p>
            <a:r>
              <a:rPr lang="en-IN" b="1" dirty="0"/>
              <a:t>Figure 6: Admin Dashboard</a:t>
            </a:r>
          </a:p>
        </p:txBody>
      </p:sp>
      <p:sp>
        <p:nvSpPr>
          <p:cNvPr id="16" name="Arrow: Chevron 15">
            <a:extLst>
              <a:ext uri="{FF2B5EF4-FFF2-40B4-BE49-F238E27FC236}">
                <a16:creationId xmlns:a16="http://schemas.microsoft.com/office/drawing/2014/main" id="{066D6EBA-741A-3360-27C5-1E91F727B435}"/>
              </a:ext>
            </a:extLst>
          </p:cNvPr>
          <p:cNvSpPr/>
          <p:nvPr/>
        </p:nvSpPr>
        <p:spPr>
          <a:xfrm>
            <a:off x="9577388" y="5153094"/>
            <a:ext cx="200025" cy="123825"/>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4" name="Picture 3">
            <a:extLst>
              <a:ext uri="{FF2B5EF4-FFF2-40B4-BE49-F238E27FC236}">
                <a16:creationId xmlns:a16="http://schemas.microsoft.com/office/drawing/2014/main" id="{D393CB0D-2F73-58F7-B353-FC516BA5441F}"/>
              </a:ext>
            </a:extLst>
          </p:cNvPr>
          <p:cNvPicPr>
            <a:picLocks noChangeAspect="1"/>
          </p:cNvPicPr>
          <p:nvPr/>
        </p:nvPicPr>
        <p:blipFill>
          <a:blip r:embed="rId3"/>
          <a:stretch>
            <a:fillRect/>
          </a:stretch>
        </p:blipFill>
        <p:spPr>
          <a:xfrm>
            <a:off x="981383" y="139875"/>
            <a:ext cx="7110566" cy="3991238"/>
          </a:xfrm>
          <a:prstGeom prst="rect">
            <a:avLst/>
          </a:prstGeom>
        </p:spPr>
      </p:pic>
      <p:pic>
        <p:nvPicPr>
          <p:cNvPr id="9" name="Picture 8">
            <a:extLst>
              <a:ext uri="{FF2B5EF4-FFF2-40B4-BE49-F238E27FC236}">
                <a16:creationId xmlns:a16="http://schemas.microsoft.com/office/drawing/2014/main" id="{5297BBD4-9063-D016-B050-660466D7558E}"/>
              </a:ext>
            </a:extLst>
          </p:cNvPr>
          <p:cNvPicPr>
            <a:picLocks noChangeAspect="1"/>
          </p:cNvPicPr>
          <p:nvPr/>
        </p:nvPicPr>
        <p:blipFill>
          <a:blip r:embed="rId4"/>
          <a:stretch>
            <a:fillRect/>
          </a:stretch>
        </p:blipFill>
        <p:spPr>
          <a:xfrm>
            <a:off x="981383" y="4250653"/>
            <a:ext cx="7110566" cy="3918679"/>
          </a:xfrm>
          <a:prstGeom prst="rect">
            <a:avLst/>
          </a:prstGeom>
        </p:spPr>
      </p:pic>
      <p:sp>
        <p:nvSpPr>
          <p:cNvPr id="10" name="TextBox 9">
            <a:extLst>
              <a:ext uri="{FF2B5EF4-FFF2-40B4-BE49-F238E27FC236}">
                <a16:creationId xmlns:a16="http://schemas.microsoft.com/office/drawing/2014/main" id="{22892320-95E0-3C17-1F21-E346FDA46002}"/>
              </a:ext>
            </a:extLst>
          </p:cNvPr>
          <p:cNvSpPr txBox="1"/>
          <p:nvPr/>
        </p:nvSpPr>
        <p:spPr>
          <a:xfrm>
            <a:off x="9758363" y="1280943"/>
            <a:ext cx="2834750" cy="369332"/>
          </a:xfrm>
          <a:prstGeom prst="rect">
            <a:avLst/>
          </a:prstGeom>
          <a:noFill/>
        </p:spPr>
        <p:txBody>
          <a:bodyPr wrap="none" rtlCol="0">
            <a:spAutoFit/>
          </a:bodyPr>
          <a:lstStyle/>
          <a:p>
            <a:r>
              <a:rPr lang="en-IN" b="1" dirty="0"/>
              <a:t>Figure 5: Patient Dashboard</a:t>
            </a:r>
          </a:p>
        </p:txBody>
      </p:sp>
      <p:sp>
        <p:nvSpPr>
          <p:cNvPr id="11" name="Arrow: Chevron 10">
            <a:extLst>
              <a:ext uri="{FF2B5EF4-FFF2-40B4-BE49-F238E27FC236}">
                <a16:creationId xmlns:a16="http://schemas.microsoft.com/office/drawing/2014/main" id="{EE343711-8469-9315-224B-A50B934E94FB}"/>
              </a:ext>
            </a:extLst>
          </p:cNvPr>
          <p:cNvSpPr/>
          <p:nvPr/>
        </p:nvSpPr>
        <p:spPr>
          <a:xfrm>
            <a:off x="9567863" y="1403696"/>
            <a:ext cx="200025" cy="123825"/>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7" name="TextBox 16">
            <a:extLst>
              <a:ext uri="{FF2B5EF4-FFF2-40B4-BE49-F238E27FC236}">
                <a16:creationId xmlns:a16="http://schemas.microsoft.com/office/drawing/2014/main" id="{99B0D347-5572-1074-6C54-F403574BFD17}"/>
              </a:ext>
            </a:extLst>
          </p:cNvPr>
          <p:cNvSpPr txBox="1"/>
          <p:nvPr/>
        </p:nvSpPr>
        <p:spPr>
          <a:xfrm>
            <a:off x="9458325" y="1722289"/>
            <a:ext cx="4198375" cy="1354217"/>
          </a:xfrm>
          <a:prstGeom prst="rect">
            <a:avLst/>
          </a:prstGeom>
          <a:noFill/>
        </p:spPr>
        <p:txBody>
          <a:bodyPr wrap="square" rtlCol="0">
            <a:spAutoFit/>
          </a:bodyPr>
          <a:lstStyle/>
          <a:p>
            <a:r>
              <a:rPr lang="en-US" sz="1600" dirty="0"/>
              <a:t>The patient dashboard helps users track their medications and view prescriptions provided by doctors. It also allows patients to monitor their treatment and maintain their medical records.</a:t>
            </a:r>
          </a:p>
          <a:p>
            <a:endParaRPr lang="en-IN" dirty="0"/>
          </a:p>
        </p:txBody>
      </p:sp>
      <p:sp>
        <p:nvSpPr>
          <p:cNvPr id="18" name="TextBox 17">
            <a:extLst>
              <a:ext uri="{FF2B5EF4-FFF2-40B4-BE49-F238E27FC236}">
                <a16:creationId xmlns:a16="http://schemas.microsoft.com/office/drawing/2014/main" id="{5DA6EAB0-B9CC-0ED6-7657-64C0E26B0F3F}"/>
              </a:ext>
            </a:extLst>
          </p:cNvPr>
          <p:cNvSpPr txBox="1"/>
          <p:nvPr/>
        </p:nvSpPr>
        <p:spPr>
          <a:xfrm>
            <a:off x="9499338" y="5471329"/>
            <a:ext cx="4486275" cy="1477328"/>
          </a:xfrm>
          <a:prstGeom prst="rect">
            <a:avLst/>
          </a:prstGeom>
          <a:noFill/>
        </p:spPr>
        <p:txBody>
          <a:bodyPr wrap="square" rtlCol="0">
            <a:spAutoFit/>
          </a:bodyPr>
          <a:lstStyle/>
          <a:p>
            <a:r>
              <a:rPr lang="en-US" dirty="0"/>
              <a:t>The admin page allows administrators to manage the system by verifying users and monitoring activities. It ensures secure access and smooth functioning of the online medication platform.</a:t>
            </a:r>
          </a:p>
        </p:txBody>
      </p:sp>
    </p:spTree>
    <p:extLst>
      <p:ext uri="{BB962C8B-B14F-4D97-AF65-F5344CB8AC3E}">
        <p14:creationId xmlns:p14="http://schemas.microsoft.com/office/powerpoint/2010/main" val="1053550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3981FB8-97DB-810B-D561-EFAB69C9E5BD}"/>
              </a:ext>
            </a:extLst>
          </p:cNvPr>
          <p:cNvSpPr/>
          <p:nvPr/>
        </p:nvSpPr>
        <p:spPr>
          <a:xfrm>
            <a:off x="0" y="-28575"/>
            <a:ext cx="14633910" cy="8229600"/>
          </a:xfrm>
          <a:prstGeom prst="rect">
            <a:avLst/>
          </a:prstGeom>
          <a:solidFill>
            <a:srgbClr val="8CD6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1683089" y="725092"/>
            <a:ext cx="11851074" cy="492681"/>
          </a:xfrm>
          <a:prstGeom prst="rect">
            <a:avLst/>
          </a:prstGeom>
          <a:noFill/>
          <a:ln/>
        </p:spPr>
        <p:txBody>
          <a:bodyPr wrap="none" lIns="0" tIns="0" rIns="0" bIns="0" rtlCol="0" anchor="t"/>
          <a:lstStyle/>
          <a:p>
            <a:pPr>
              <a:lnSpc>
                <a:spcPts val="3850"/>
              </a:lnSpc>
            </a:pPr>
            <a:r>
              <a:rPr lang="en-US" sz="3100" dirty="0">
                <a:solidFill>
                  <a:srgbClr val="00002E"/>
                </a:solidFill>
                <a:latin typeface="Nunito Semi Bold" pitchFamily="34" charset="0"/>
                <a:ea typeface="Nunito Semi Bold" pitchFamily="34" charset="-122"/>
                <a:cs typeface="Nunito Semi Bold" pitchFamily="34" charset="-120"/>
              </a:rPr>
              <a:t>Future Enhancements of </a:t>
            </a:r>
            <a:r>
              <a:rPr lang="en-US" sz="3200" dirty="0">
                <a:solidFill>
                  <a:srgbClr val="00002E"/>
                </a:solidFill>
                <a:latin typeface="Nunito Semi Bold" pitchFamily="34" charset="0"/>
                <a:ea typeface="Nunito Semi Bold" pitchFamily="34" charset="-122"/>
                <a:cs typeface="Nunito Semi Bold" pitchFamily="34" charset="-120"/>
              </a:rPr>
              <a:t>Online Medication &amp;Prescription Tracker</a:t>
            </a:r>
            <a:endParaRPr lang="en-US" sz="3100" dirty="0"/>
          </a:p>
        </p:txBody>
      </p:sp>
      <p:sp>
        <p:nvSpPr>
          <p:cNvPr id="3" name="Shape 1"/>
          <p:cNvSpPr/>
          <p:nvPr/>
        </p:nvSpPr>
        <p:spPr>
          <a:xfrm>
            <a:off x="2504214" y="1955415"/>
            <a:ext cx="3297436" cy="86869"/>
          </a:xfrm>
          <a:prstGeom prst="roundRect">
            <a:avLst>
              <a:gd name="adj" fmla="val 150027"/>
            </a:avLst>
          </a:prstGeom>
          <a:solidFill>
            <a:srgbClr val="F3F3FF"/>
          </a:solidFill>
          <a:ln w="15240">
            <a:solidFill>
              <a:srgbClr val="2D4DF2"/>
            </a:solidFill>
            <a:prstDash val="solid"/>
          </a:ln>
        </p:spPr>
      </p:sp>
      <p:sp>
        <p:nvSpPr>
          <p:cNvPr id="4" name="Shape 2"/>
          <p:cNvSpPr/>
          <p:nvPr/>
        </p:nvSpPr>
        <p:spPr>
          <a:xfrm>
            <a:off x="2147071" y="1738044"/>
            <a:ext cx="502563" cy="502563"/>
          </a:xfrm>
          <a:prstGeom prst="roundRect">
            <a:avLst>
              <a:gd name="adj" fmla="val 90974"/>
            </a:avLst>
          </a:prstGeom>
          <a:solidFill>
            <a:srgbClr val="F3F3FF"/>
          </a:solidFill>
          <a:ln w="15240">
            <a:solidFill>
              <a:srgbClr val="2D4DF2"/>
            </a:solidFill>
            <a:prstDash val="solid"/>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52992" y="1829804"/>
            <a:ext cx="251222" cy="251222"/>
          </a:xfrm>
          <a:prstGeom prst="rect">
            <a:avLst/>
          </a:prstGeom>
        </p:spPr>
      </p:pic>
      <p:sp>
        <p:nvSpPr>
          <p:cNvPr id="6" name="Text 3"/>
          <p:cNvSpPr/>
          <p:nvPr/>
        </p:nvSpPr>
        <p:spPr>
          <a:xfrm>
            <a:off x="2248717" y="2358918"/>
            <a:ext cx="1971080" cy="246459"/>
          </a:xfrm>
          <a:prstGeom prst="rect">
            <a:avLst/>
          </a:prstGeom>
          <a:noFill/>
          <a:ln/>
        </p:spPr>
        <p:txBody>
          <a:bodyPr wrap="none" lIns="0" tIns="0" rIns="0" bIns="0" rtlCol="0" anchor="t"/>
          <a:lstStyle/>
          <a:p>
            <a:pPr marL="0" indent="0" algn="l">
              <a:lnSpc>
                <a:spcPts val="1900"/>
              </a:lnSpc>
              <a:buNone/>
            </a:pPr>
            <a:r>
              <a:rPr lang="en-US" sz="1550" b="1" dirty="0">
                <a:solidFill>
                  <a:srgbClr val="00002E"/>
                </a:solidFill>
                <a:latin typeface="Nunito Semi Bold" pitchFamily="34" charset="0"/>
                <a:ea typeface="Nunito Semi Bold" pitchFamily="34" charset="-122"/>
                <a:cs typeface="Nunito Semi Bold" pitchFamily="34" charset="-120"/>
              </a:rPr>
              <a:t>Mobile Application</a:t>
            </a:r>
            <a:endParaRPr lang="en-US" sz="1550" b="1" dirty="0"/>
          </a:p>
        </p:txBody>
      </p:sp>
      <p:sp>
        <p:nvSpPr>
          <p:cNvPr id="7" name="Text 4"/>
          <p:cNvSpPr/>
          <p:nvPr/>
        </p:nvSpPr>
        <p:spPr>
          <a:xfrm>
            <a:off x="2556387" y="3064602"/>
            <a:ext cx="2981475" cy="246459"/>
          </a:xfrm>
          <a:prstGeom prst="rect">
            <a:avLst/>
          </a:prstGeom>
          <a:noFill/>
          <a:ln/>
        </p:spPr>
        <p:txBody>
          <a:bodyPr wrap="square" lIns="0" tIns="0" rIns="0" bIns="0" rtlCol="0" anchor="t"/>
          <a:lstStyle/>
          <a:p>
            <a:pPr marL="0" indent="0" algn="l">
              <a:lnSpc>
                <a:spcPts val="1750"/>
              </a:lnSpc>
              <a:buNone/>
            </a:pPr>
            <a:endParaRPr lang="en-US" sz="1300" dirty="0"/>
          </a:p>
        </p:txBody>
      </p:sp>
      <p:sp>
        <p:nvSpPr>
          <p:cNvPr id="8" name="Shape 5"/>
          <p:cNvSpPr/>
          <p:nvPr/>
        </p:nvSpPr>
        <p:spPr>
          <a:xfrm>
            <a:off x="9109282" y="1895755"/>
            <a:ext cx="3213852" cy="83610"/>
          </a:xfrm>
          <a:prstGeom prst="roundRect">
            <a:avLst>
              <a:gd name="adj" fmla="val 150027"/>
            </a:avLst>
          </a:prstGeom>
          <a:solidFill>
            <a:srgbClr val="F3F3FF"/>
          </a:solidFill>
          <a:ln w="15240">
            <a:solidFill>
              <a:srgbClr val="018CE1"/>
            </a:solidFill>
            <a:prstDash val="solid"/>
          </a:ln>
        </p:spPr>
      </p:sp>
      <p:sp>
        <p:nvSpPr>
          <p:cNvPr id="9" name="Shape 6"/>
          <p:cNvSpPr/>
          <p:nvPr/>
        </p:nvSpPr>
        <p:spPr>
          <a:xfrm>
            <a:off x="8734434" y="1649414"/>
            <a:ext cx="516108" cy="492681"/>
          </a:xfrm>
          <a:prstGeom prst="roundRect">
            <a:avLst>
              <a:gd name="adj" fmla="val 90974"/>
            </a:avLst>
          </a:prstGeom>
          <a:solidFill>
            <a:srgbClr val="F3F3FF"/>
          </a:solidFill>
          <a:ln w="15240">
            <a:solidFill>
              <a:srgbClr val="018CE1"/>
            </a:solidFill>
            <a:prstDash val="solid"/>
          </a:ln>
        </p:spPr>
        <p:txBody>
          <a:bodyPr/>
          <a:lstStyle/>
          <a:p>
            <a:endParaRPr lang="en-IN"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58060" y="1747613"/>
            <a:ext cx="251222" cy="251222"/>
          </a:xfrm>
          <a:prstGeom prst="rect">
            <a:avLst/>
          </a:prstGeom>
        </p:spPr>
      </p:pic>
      <p:sp>
        <p:nvSpPr>
          <p:cNvPr id="11" name="Text 7"/>
          <p:cNvSpPr/>
          <p:nvPr/>
        </p:nvSpPr>
        <p:spPr>
          <a:xfrm>
            <a:off x="8788115" y="2228702"/>
            <a:ext cx="1989296" cy="246459"/>
          </a:xfrm>
          <a:prstGeom prst="rect">
            <a:avLst/>
          </a:prstGeom>
          <a:noFill/>
          <a:ln/>
        </p:spPr>
        <p:txBody>
          <a:bodyPr wrap="none" lIns="0" tIns="0" rIns="0" bIns="0" rtlCol="0" anchor="t"/>
          <a:lstStyle/>
          <a:p>
            <a:pPr marL="0" indent="0" algn="l">
              <a:lnSpc>
                <a:spcPts val="1900"/>
              </a:lnSpc>
              <a:buNone/>
            </a:pPr>
            <a:r>
              <a:rPr lang="en-US" sz="1550" b="1" dirty="0">
                <a:solidFill>
                  <a:srgbClr val="00002E"/>
                </a:solidFill>
                <a:latin typeface="Nunito Semi Bold" pitchFamily="34" charset="0"/>
                <a:ea typeface="Nunito Semi Bold" pitchFamily="34" charset="-122"/>
                <a:cs typeface="Nunito Semi Bold" pitchFamily="34" charset="-120"/>
              </a:rPr>
              <a:t>Integration Ecosystem</a:t>
            </a:r>
            <a:endParaRPr lang="en-US" sz="1550" b="1" dirty="0"/>
          </a:p>
        </p:txBody>
      </p:sp>
      <p:sp>
        <p:nvSpPr>
          <p:cNvPr id="12" name="Text 8"/>
          <p:cNvSpPr/>
          <p:nvPr/>
        </p:nvSpPr>
        <p:spPr>
          <a:xfrm>
            <a:off x="8788115" y="2618032"/>
            <a:ext cx="4670709" cy="2462213"/>
          </a:xfrm>
          <a:prstGeom prst="rect">
            <a:avLst/>
          </a:prstGeom>
          <a:noFill/>
          <a:ln/>
        </p:spPr>
        <p:txBody>
          <a:bodyPr wrap="square" lIns="0" tIns="0" rIns="0" bIns="0" rtlCol="0" anchor="t"/>
          <a:lstStyle/>
          <a:p>
            <a:pPr marL="0" indent="0" algn="l">
              <a:lnSpc>
                <a:spcPts val="1750"/>
              </a:lnSpc>
              <a:buNone/>
            </a:pPr>
            <a:r>
              <a:rPr lang="en-US" sz="1300">
                <a:solidFill>
                  <a:srgbClr val="00002E"/>
                </a:solidFill>
                <a:latin typeface="PT Sans" pitchFamily="34" charset="0"/>
                <a:ea typeface="PT Sans" pitchFamily="34" charset="-122"/>
                <a:cs typeface="PT Sans" pitchFamily="34" charset="-120"/>
              </a:rPr>
              <a:t>Connect with pharmacy systems, electronic health records, and we</a:t>
            </a:r>
          </a:p>
          <a:p>
            <a:pPr marL="0" indent="0" algn="l">
              <a:lnSpc>
                <a:spcPts val="1750"/>
              </a:lnSpc>
              <a:buNone/>
            </a:pPr>
            <a:r>
              <a:rPr lang="en-US" sz="1300">
                <a:solidFill>
                  <a:srgbClr val="00002E"/>
                </a:solidFill>
                <a:latin typeface="PT Sans" pitchFamily="34" charset="0"/>
                <a:ea typeface="PT Sans" pitchFamily="34" charset="-122"/>
                <a:cs typeface="PT Sans" pitchFamily="34" charset="-120"/>
              </a:rPr>
              <a:t>arable health devices.</a:t>
            </a:r>
          </a:p>
          <a:p>
            <a:endParaRPr lang="en-US" sz="1400"/>
          </a:p>
          <a:p>
            <a:r>
              <a:rPr lang="en-US" sz="1400"/>
              <a:t>Sync with wearable devices to monitor vital signs and detect early signs of medication side effects.</a:t>
            </a:r>
          </a:p>
          <a:p>
            <a:endParaRPr lang="en-US" sz="1400"/>
          </a:p>
          <a:p>
            <a:r>
              <a:rPr lang="en-US" sz="1400"/>
              <a:t>Automated alerts for potential drug interactions based on combined health data.</a:t>
            </a:r>
          </a:p>
          <a:p>
            <a:pPr marL="0" indent="0" algn="l">
              <a:lnSpc>
                <a:spcPts val="1750"/>
              </a:lnSpc>
              <a:buNone/>
            </a:pPr>
            <a:endParaRPr lang="en-US" sz="1300" dirty="0"/>
          </a:p>
        </p:txBody>
      </p:sp>
      <p:sp>
        <p:nvSpPr>
          <p:cNvPr id="13" name="Shape 9"/>
          <p:cNvSpPr/>
          <p:nvPr/>
        </p:nvSpPr>
        <p:spPr>
          <a:xfrm>
            <a:off x="2407659" y="4920512"/>
            <a:ext cx="3297555" cy="76120"/>
          </a:xfrm>
          <a:prstGeom prst="roundRect">
            <a:avLst>
              <a:gd name="adj" fmla="val 150027"/>
            </a:avLst>
          </a:prstGeom>
          <a:solidFill>
            <a:srgbClr val="F3F3FF"/>
          </a:solidFill>
          <a:ln w="15240">
            <a:solidFill>
              <a:srgbClr val="DA33BF"/>
            </a:solidFill>
            <a:prstDash val="solid"/>
          </a:ln>
        </p:spPr>
      </p:sp>
      <p:sp>
        <p:nvSpPr>
          <p:cNvPr id="14" name="Shape 10"/>
          <p:cNvSpPr/>
          <p:nvPr/>
        </p:nvSpPr>
        <p:spPr>
          <a:xfrm>
            <a:off x="2147071" y="4683898"/>
            <a:ext cx="502563" cy="502563"/>
          </a:xfrm>
          <a:prstGeom prst="roundRect">
            <a:avLst>
              <a:gd name="adj" fmla="val 90974"/>
            </a:avLst>
          </a:prstGeom>
          <a:solidFill>
            <a:srgbClr val="F3F3FF"/>
          </a:solidFill>
          <a:ln w="15240">
            <a:solidFill>
              <a:srgbClr val="DA33BF"/>
            </a:solidFill>
            <a:prstDash val="solid"/>
          </a:ln>
        </p:spPr>
        <p:txBody>
          <a:bodyPr/>
          <a:lstStyle/>
          <a:p>
            <a:endParaRPr lang="en-IN" dirty="0"/>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48717" y="4792043"/>
            <a:ext cx="251222" cy="251222"/>
          </a:xfrm>
          <a:prstGeom prst="rect">
            <a:avLst/>
          </a:prstGeom>
        </p:spPr>
      </p:pic>
      <p:sp>
        <p:nvSpPr>
          <p:cNvPr id="16" name="Text 11"/>
          <p:cNvSpPr/>
          <p:nvPr/>
        </p:nvSpPr>
        <p:spPr>
          <a:xfrm>
            <a:off x="2248717" y="5398746"/>
            <a:ext cx="1971080" cy="246459"/>
          </a:xfrm>
          <a:prstGeom prst="rect">
            <a:avLst/>
          </a:prstGeom>
          <a:noFill/>
          <a:ln/>
        </p:spPr>
        <p:txBody>
          <a:bodyPr wrap="none" lIns="0" tIns="0" rIns="0" bIns="0" rtlCol="0" anchor="t"/>
          <a:lstStyle/>
          <a:p>
            <a:pPr marL="0" indent="0" algn="l">
              <a:lnSpc>
                <a:spcPts val="1900"/>
              </a:lnSpc>
              <a:buNone/>
            </a:pPr>
            <a:r>
              <a:rPr lang="en-US" sz="1550" b="1" dirty="0">
                <a:solidFill>
                  <a:srgbClr val="00002E"/>
                </a:solidFill>
                <a:latin typeface="Nunito Semi Bold" pitchFamily="34" charset="0"/>
                <a:ea typeface="Nunito Semi Bold" pitchFamily="34" charset="-122"/>
                <a:cs typeface="Nunito Semi Bold" pitchFamily="34" charset="-120"/>
              </a:rPr>
              <a:t>Analytics Dashboard</a:t>
            </a:r>
            <a:endParaRPr lang="en-US" sz="1550" b="1" dirty="0"/>
          </a:p>
        </p:txBody>
      </p:sp>
      <p:sp>
        <p:nvSpPr>
          <p:cNvPr id="17" name="Text 12"/>
          <p:cNvSpPr/>
          <p:nvPr/>
        </p:nvSpPr>
        <p:spPr>
          <a:xfrm>
            <a:off x="2248717" y="5718149"/>
            <a:ext cx="4915043" cy="4226546"/>
          </a:xfrm>
          <a:prstGeom prst="rect">
            <a:avLst/>
          </a:prstGeom>
          <a:noFill/>
          <a:ln/>
        </p:spPr>
        <p:txBody>
          <a:bodyPr wrap="square" lIns="0" tIns="0" rIns="0" bIns="0" rtlCol="0" anchor="t"/>
          <a:lstStyle/>
          <a:p>
            <a:pPr>
              <a:lnSpc>
                <a:spcPts val="1750"/>
              </a:lnSpc>
            </a:pPr>
            <a:r>
              <a:rPr lang="en-US" sz="1300" dirty="0">
                <a:solidFill>
                  <a:srgbClr val="00002E"/>
                </a:solidFill>
                <a:latin typeface="PT Sans" pitchFamily="34" charset="0"/>
                <a:ea typeface="PT Sans" pitchFamily="34" charset="-122"/>
                <a:cs typeface="PT Sans" pitchFamily="34" charset="-120"/>
              </a:rPr>
              <a:t>Advanced reporting on medication adherence patterns and treatment outcomes for clinical insights.</a:t>
            </a:r>
            <a:r>
              <a:rPr lang="en-US" sz="1400" dirty="0"/>
              <a:t> </a:t>
            </a:r>
          </a:p>
          <a:p>
            <a:pPr>
              <a:lnSpc>
                <a:spcPts val="1750"/>
              </a:lnSpc>
            </a:pPr>
            <a:endParaRPr lang="en-US" sz="1400" dirty="0"/>
          </a:p>
          <a:p>
            <a:pPr>
              <a:lnSpc>
                <a:spcPts val="1750"/>
              </a:lnSpc>
            </a:pPr>
            <a:r>
              <a:rPr lang="en-US" sz="1400" dirty="0"/>
              <a:t>Customizable dashboards for different stakeholders: doctors, pharmacists, and caregivers. </a:t>
            </a:r>
          </a:p>
          <a:p>
            <a:pPr>
              <a:lnSpc>
                <a:spcPts val="1750"/>
              </a:lnSpc>
            </a:pPr>
            <a:endParaRPr lang="en-US" sz="1400" dirty="0"/>
          </a:p>
          <a:p>
            <a:pPr>
              <a:lnSpc>
                <a:spcPts val="1750"/>
              </a:lnSpc>
            </a:pPr>
            <a:r>
              <a:rPr lang="en-US" sz="1400" dirty="0"/>
              <a:t> Trend analysis and benchmarking across populations to support research and public health initiatives.</a:t>
            </a:r>
          </a:p>
          <a:p>
            <a:pPr>
              <a:lnSpc>
                <a:spcPts val="1750"/>
              </a:lnSpc>
            </a:pPr>
            <a:endParaRPr lang="en-US" sz="1300" dirty="0">
              <a:solidFill>
                <a:srgbClr val="00002E"/>
              </a:solidFill>
              <a:latin typeface="PT Sans" pitchFamily="34" charset="0"/>
              <a:ea typeface="PT Sans" pitchFamily="34" charset="-122"/>
              <a:cs typeface="PT Sans" pitchFamily="34" charset="-120"/>
            </a:endParaRPr>
          </a:p>
          <a:p>
            <a:pPr marL="0" indent="0" algn="l">
              <a:lnSpc>
                <a:spcPts val="1750"/>
              </a:lnSpc>
              <a:buNone/>
            </a:pPr>
            <a:endParaRPr lang="en-US" sz="1300" dirty="0"/>
          </a:p>
        </p:txBody>
      </p:sp>
      <p:sp>
        <p:nvSpPr>
          <p:cNvPr id="21" name="Text 15"/>
          <p:cNvSpPr/>
          <p:nvPr/>
        </p:nvSpPr>
        <p:spPr>
          <a:xfrm>
            <a:off x="1874758" y="7046357"/>
            <a:ext cx="1971080" cy="246459"/>
          </a:xfrm>
          <a:prstGeom prst="rect">
            <a:avLst/>
          </a:prstGeom>
          <a:noFill/>
          <a:ln/>
        </p:spPr>
        <p:txBody>
          <a:bodyPr wrap="none" lIns="0" tIns="0" rIns="0" bIns="0" rtlCol="0" anchor="t"/>
          <a:lstStyle/>
          <a:p>
            <a:pPr marL="0" indent="0" algn="l">
              <a:lnSpc>
                <a:spcPts val="1900"/>
              </a:lnSpc>
              <a:buNone/>
            </a:pPr>
            <a:endParaRPr lang="en-US" sz="1550" dirty="0"/>
          </a:p>
        </p:txBody>
      </p:sp>
      <p:sp>
        <p:nvSpPr>
          <p:cNvPr id="22" name="Text 16"/>
          <p:cNvSpPr/>
          <p:nvPr/>
        </p:nvSpPr>
        <p:spPr>
          <a:xfrm>
            <a:off x="1874758" y="7363063"/>
            <a:ext cx="2610207" cy="227767"/>
          </a:xfrm>
          <a:prstGeom prst="rect">
            <a:avLst/>
          </a:prstGeom>
          <a:noFill/>
          <a:ln/>
        </p:spPr>
        <p:txBody>
          <a:bodyPr wrap="none" lIns="0" tIns="0" rIns="0" bIns="0" rtlCol="0" anchor="t"/>
          <a:lstStyle/>
          <a:p>
            <a:pPr marL="0" indent="0" algn="l">
              <a:lnSpc>
                <a:spcPts val="1750"/>
              </a:lnSpc>
              <a:buNone/>
            </a:pPr>
            <a:endParaRPr lang="en-US" sz="1300" dirty="0"/>
          </a:p>
        </p:txBody>
      </p:sp>
      <p:sp>
        <p:nvSpPr>
          <p:cNvPr id="45" name="TextBox 44">
            <a:extLst>
              <a:ext uri="{FF2B5EF4-FFF2-40B4-BE49-F238E27FC236}">
                <a16:creationId xmlns:a16="http://schemas.microsoft.com/office/drawing/2014/main" id="{7981BFA0-DF27-C2E0-C826-52D5CEA47FE5}"/>
              </a:ext>
            </a:extLst>
          </p:cNvPr>
          <p:cNvSpPr txBox="1"/>
          <p:nvPr/>
        </p:nvSpPr>
        <p:spPr>
          <a:xfrm>
            <a:off x="2248717" y="2676299"/>
            <a:ext cx="4818131" cy="2246769"/>
          </a:xfrm>
          <a:prstGeom prst="rect">
            <a:avLst/>
          </a:prstGeom>
          <a:noFill/>
        </p:spPr>
        <p:txBody>
          <a:bodyPr wrap="square" rtlCol="0">
            <a:spAutoFit/>
          </a:bodyPr>
          <a:lstStyle/>
          <a:p>
            <a:r>
              <a:rPr lang="en-US" sz="1400" dirty="0"/>
              <a:t>AI-driven personalized reminders that adjust timing based on user behavior and adherence patterns. </a:t>
            </a:r>
          </a:p>
          <a:p>
            <a:endParaRPr lang="en-US" sz="1400" dirty="0"/>
          </a:p>
          <a:p>
            <a:r>
              <a:rPr lang="en-US" sz="1400" dirty="0"/>
              <a:t>Voice assistant integration for hands-free medication logging and queries.</a:t>
            </a:r>
          </a:p>
          <a:p>
            <a:endParaRPr lang="en-US" sz="1400" dirty="0"/>
          </a:p>
          <a:p>
            <a:r>
              <a:rPr lang="en-US" sz="1400" dirty="0"/>
              <a:t>Offline mode to track medications and sync data when internet connectivity is restored.</a:t>
            </a:r>
          </a:p>
          <a:p>
            <a:endParaRPr lang="en-US" sz="1400" dirty="0"/>
          </a:p>
          <a:p>
            <a:r>
              <a:rPr lang="en-US" sz="1400" dirty="0"/>
              <a:t> </a:t>
            </a:r>
            <a:endParaRPr lang="en-IN" sz="1400" dirty="0"/>
          </a:p>
        </p:txBody>
      </p:sp>
      <p:sp>
        <p:nvSpPr>
          <p:cNvPr id="20" name="TextBox 19">
            <a:extLst>
              <a:ext uri="{FF2B5EF4-FFF2-40B4-BE49-F238E27FC236}">
                <a16:creationId xmlns:a16="http://schemas.microsoft.com/office/drawing/2014/main" id="{83C9CBD5-3962-422F-2A9A-F7B7F0367722}"/>
              </a:ext>
            </a:extLst>
          </p:cNvPr>
          <p:cNvSpPr txBox="1"/>
          <p:nvPr/>
        </p:nvSpPr>
        <p:spPr>
          <a:xfrm>
            <a:off x="8734434" y="5368982"/>
            <a:ext cx="4438300" cy="1823576"/>
          </a:xfrm>
          <a:prstGeom prst="rect">
            <a:avLst/>
          </a:prstGeom>
          <a:noFill/>
        </p:spPr>
        <p:txBody>
          <a:bodyPr wrap="square" rtlCol="0">
            <a:spAutoFit/>
          </a:bodyPr>
          <a:lstStyle/>
          <a:p>
            <a:endParaRPr lang="en-IN" b="1" dirty="0"/>
          </a:p>
          <a:p>
            <a:r>
              <a:rPr lang="en-IN" sz="1350" dirty="0"/>
              <a:t>AI-driven personalized reminders based on user </a:t>
            </a:r>
            <a:r>
              <a:rPr lang="en-IN" sz="1350" dirty="0" err="1"/>
              <a:t>behavior</a:t>
            </a:r>
            <a:r>
              <a:rPr lang="en-IN" sz="1350" dirty="0"/>
              <a:t> and adherence patterns .</a:t>
            </a:r>
          </a:p>
          <a:p>
            <a:endParaRPr lang="en-IN" sz="1350" dirty="0"/>
          </a:p>
          <a:p>
            <a:r>
              <a:rPr lang="en-IN" sz="1350" dirty="0"/>
              <a:t>Intelligent alerts for missed doses and schedule optimization.</a:t>
            </a:r>
          </a:p>
          <a:p>
            <a:r>
              <a:rPr lang="en-IN" sz="1350" dirty="0"/>
              <a:t> </a:t>
            </a:r>
          </a:p>
          <a:p>
            <a:r>
              <a:rPr lang="en-IN" sz="1350" dirty="0"/>
              <a:t>Enhanced chatbot capabilities for more accurate medical guidance.</a:t>
            </a:r>
          </a:p>
        </p:txBody>
      </p:sp>
      <p:sp>
        <p:nvSpPr>
          <p:cNvPr id="23" name="TextBox 22">
            <a:extLst>
              <a:ext uri="{FF2B5EF4-FFF2-40B4-BE49-F238E27FC236}">
                <a16:creationId xmlns:a16="http://schemas.microsoft.com/office/drawing/2014/main" id="{8B600155-6CDA-C5AD-EB48-042E86715123}"/>
              </a:ext>
            </a:extLst>
          </p:cNvPr>
          <p:cNvSpPr txBox="1"/>
          <p:nvPr/>
        </p:nvSpPr>
        <p:spPr>
          <a:xfrm>
            <a:off x="8764991" y="5299928"/>
            <a:ext cx="2601239" cy="607859"/>
          </a:xfrm>
          <a:prstGeom prst="rect">
            <a:avLst/>
          </a:prstGeom>
          <a:noFill/>
        </p:spPr>
        <p:txBody>
          <a:bodyPr wrap="square" rtlCol="0">
            <a:spAutoFit/>
          </a:bodyPr>
          <a:lstStyle/>
          <a:p>
            <a:r>
              <a:rPr lang="en-IN" sz="1550" b="1" dirty="0"/>
              <a:t>AI &amp; Smart Features</a:t>
            </a:r>
          </a:p>
          <a:p>
            <a:endParaRPr lang="en-IN" dirty="0"/>
          </a:p>
        </p:txBody>
      </p:sp>
      <p:sp>
        <p:nvSpPr>
          <p:cNvPr id="28" name="Shape 9">
            <a:extLst>
              <a:ext uri="{FF2B5EF4-FFF2-40B4-BE49-F238E27FC236}">
                <a16:creationId xmlns:a16="http://schemas.microsoft.com/office/drawing/2014/main" id="{DD2614EA-EF8B-3321-3ABE-02CEDECA03F7}"/>
              </a:ext>
            </a:extLst>
          </p:cNvPr>
          <p:cNvSpPr/>
          <p:nvPr/>
        </p:nvSpPr>
        <p:spPr>
          <a:xfrm>
            <a:off x="9025579" y="4917654"/>
            <a:ext cx="3297555" cy="76120"/>
          </a:xfrm>
          <a:prstGeom prst="roundRect">
            <a:avLst>
              <a:gd name="adj" fmla="val 150027"/>
            </a:avLst>
          </a:prstGeom>
          <a:solidFill>
            <a:srgbClr val="F3F3FF"/>
          </a:solidFill>
          <a:ln w="15240">
            <a:solidFill>
              <a:srgbClr val="DA33BF"/>
            </a:solidFill>
            <a:prstDash val="solid"/>
          </a:ln>
        </p:spPr>
      </p:sp>
      <p:sp>
        <p:nvSpPr>
          <p:cNvPr id="29" name="Shape 10">
            <a:extLst>
              <a:ext uri="{FF2B5EF4-FFF2-40B4-BE49-F238E27FC236}">
                <a16:creationId xmlns:a16="http://schemas.microsoft.com/office/drawing/2014/main" id="{0E644D76-9660-D22E-3DB2-853A27FF98AD}"/>
              </a:ext>
            </a:extLst>
          </p:cNvPr>
          <p:cNvSpPr/>
          <p:nvPr/>
        </p:nvSpPr>
        <p:spPr>
          <a:xfrm>
            <a:off x="8764991" y="4681040"/>
            <a:ext cx="502563" cy="502563"/>
          </a:xfrm>
          <a:prstGeom prst="roundRect">
            <a:avLst>
              <a:gd name="adj" fmla="val 90974"/>
            </a:avLst>
          </a:prstGeom>
          <a:solidFill>
            <a:srgbClr val="F3F3FF"/>
          </a:solidFill>
          <a:ln w="15240">
            <a:solidFill>
              <a:srgbClr val="DA33BF"/>
            </a:solidFill>
            <a:prstDash val="solid"/>
          </a:ln>
        </p:spPr>
        <p:txBody>
          <a:bodyPr/>
          <a:lstStyle/>
          <a:p>
            <a:endParaRPr lang="en-IN" dirty="0"/>
          </a:p>
        </p:txBody>
      </p:sp>
      <p:sp>
        <p:nvSpPr>
          <p:cNvPr id="35" name="TextBox 34">
            <a:extLst>
              <a:ext uri="{FF2B5EF4-FFF2-40B4-BE49-F238E27FC236}">
                <a16:creationId xmlns:a16="http://schemas.microsoft.com/office/drawing/2014/main" id="{ABE84344-A51E-3897-686F-339B278C153C}"/>
              </a:ext>
            </a:extLst>
          </p:cNvPr>
          <p:cNvSpPr txBox="1"/>
          <p:nvPr/>
        </p:nvSpPr>
        <p:spPr>
          <a:xfrm>
            <a:off x="8769358" y="4754019"/>
            <a:ext cx="521320" cy="369332"/>
          </a:xfrm>
          <a:prstGeom prst="rect">
            <a:avLst/>
          </a:prstGeom>
          <a:noFill/>
        </p:spPr>
        <p:txBody>
          <a:bodyPr wrap="square">
            <a:spAutoFit/>
          </a:bodyPr>
          <a:lstStyle/>
          <a:p>
            <a:r>
              <a:rPr lang="en-IN"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0483B-13DD-1A37-8D41-55969DBD399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F1628FA-A378-D1F3-91F3-64CF7C1924CE}"/>
              </a:ext>
            </a:extLst>
          </p:cNvPr>
          <p:cNvSpPr/>
          <p:nvPr/>
        </p:nvSpPr>
        <p:spPr>
          <a:xfrm>
            <a:off x="0" y="0"/>
            <a:ext cx="14619696" cy="8229600"/>
          </a:xfrm>
          <a:prstGeom prst="rect">
            <a:avLst/>
          </a:prstGeom>
          <a:solidFill>
            <a:srgbClr val="8CD6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en-US" dirty="0">
              <a:solidFill>
                <a:schemeClr val="tx1"/>
              </a:solidFill>
              <a:latin typeface="Arial" panose="020B0604020202020204" pitchFamily="34" charset="0"/>
            </a:endParaRPr>
          </a:p>
          <a:p>
            <a:pPr algn="ctr"/>
            <a:r>
              <a:rPr lang="en-IN" dirty="0"/>
              <a:t>-</a:t>
            </a:r>
          </a:p>
        </p:txBody>
      </p:sp>
      <p:sp>
        <p:nvSpPr>
          <p:cNvPr id="2" name="Text 0">
            <a:extLst>
              <a:ext uri="{FF2B5EF4-FFF2-40B4-BE49-F238E27FC236}">
                <a16:creationId xmlns:a16="http://schemas.microsoft.com/office/drawing/2014/main" id="{14036C56-9F92-BBBB-1595-CB4EC64EF1B1}"/>
              </a:ext>
            </a:extLst>
          </p:cNvPr>
          <p:cNvSpPr/>
          <p:nvPr/>
        </p:nvSpPr>
        <p:spPr>
          <a:xfrm>
            <a:off x="6509904" y="3863072"/>
            <a:ext cx="1421964" cy="503456"/>
          </a:xfrm>
          <a:prstGeom prst="rect">
            <a:avLst/>
          </a:prstGeom>
          <a:noFill/>
          <a:ln/>
        </p:spPr>
        <p:txBody>
          <a:bodyPr wrap="none" lIns="0" tIns="0" rIns="0" bIns="0" rtlCol="0" anchor="t"/>
          <a:lstStyle/>
          <a:p>
            <a:pPr marL="0" indent="0" algn="l">
              <a:lnSpc>
                <a:spcPts val="3250"/>
              </a:lnSpc>
              <a:buNone/>
            </a:pPr>
            <a:endParaRPr lang="en-US" sz="6000" b="1" dirty="0"/>
          </a:p>
        </p:txBody>
      </p:sp>
      <p:sp>
        <p:nvSpPr>
          <p:cNvPr id="3" name="TextBox 2">
            <a:extLst>
              <a:ext uri="{FF2B5EF4-FFF2-40B4-BE49-F238E27FC236}">
                <a16:creationId xmlns:a16="http://schemas.microsoft.com/office/drawing/2014/main" id="{14DB47DC-A7AB-ECA7-9D0E-F9C838B4BB94}"/>
              </a:ext>
            </a:extLst>
          </p:cNvPr>
          <p:cNvSpPr txBox="1"/>
          <p:nvPr/>
        </p:nvSpPr>
        <p:spPr>
          <a:xfrm>
            <a:off x="805422" y="929216"/>
            <a:ext cx="2727029" cy="774636"/>
          </a:xfrm>
          <a:prstGeom prst="rect">
            <a:avLst/>
          </a:prstGeom>
          <a:noFill/>
        </p:spPr>
        <p:txBody>
          <a:bodyPr wrap="none" rtlCol="0">
            <a:spAutoFit/>
          </a:bodyPr>
          <a:lstStyle/>
          <a:p>
            <a:pPr>
              <a:lnSpc>
                <a:spcPts val="5450"/>
              </a:lnSpc>
            </a:pPr>
            <a:r>
              <a:rPr lang="en-US" sz="4000" dirty="0">
                <a:solidFill>
                  <a:srgbClr val="00002E"/>
                </a:solidFill>
                <a:latin typeface="Nunito Semi Bold" pitchFamily="34" charset="0"/>
                <a:ea typeface="Nunito Semi Bold" pitchFamily="34" charset="-122"/>
                <a:cs typeface="Nunito Semi Bold" pitchFamily="34" charset="-120"/>
              </a:rPr>
              <a:t>Conclusion</a:t>
            </a:r>
            <a:endParaRPr lang="en-IN" sz="4000" b="1" dirty="0"/>
          </a:p>
        </p:txBody>
      </p:sp>
      <p:sp>
        <p:nvSpPr>
          <p:cNvPr id="4" name="TextBox 3">
            <a:extLst>
              <a:ext uri="{FF2B5EF4-FFF2-40B4-BE49-F238E27FC236}">
                <a16:creationId xmlns:a16="http://schemas.microsoft.com/office/drawing/2014/main" id="{D62DA039-2FB0-A488-9F0B-BEB214C5B066}"/>
              </a:ext>
            </a:extLst>
          </p:cNvPr>
          <p:cNvSpPr txBox="1"/>
          <p:nvPr/>
        </p:nvSpPr>
        <p:spPr>
          <a:xfrm>
            <a:off x="805422" y="2282041"/>
            <a:ext cx="5430422" cy="3970318"/>
          </a:xfrm>
          <a:prstGeom prst="rect">
            <a:avLst/>
          </a:prstGeom>
          <a:noFill/>
        </p:spPr>
        <p:txBody>
          <a:bodyPr wrap="square" rtlCol="0">
            <a:spAutoFit/>
          </a:bodyPr>
          <a:lstStyle/>
          <a:p>
            <a:r>
              <a:rPr lang="en-US" dirty="0"/>
              <a:t>The </a:t>
            </a:r>
            <a:r>
              <a:rPr lang="en-US" b="1" dirty="0"/>
              <a:t>Online Medication &amp; Prescription Tracker</a:t>
            </a:r>
            <a:r>
              <a:rPr lang="en-US" dirty="0"/>
              <a:t> is a digital system that simplifies medication and prescription management for patients and doctors. It improves treatment tracking, communication, and overall efficiency.</a:t>
            </a:r>
          </a:p>
          <a:p>
            <a:endParaRPr lang="en-US" dirty="0"/>
          </a:p>
          <a:p>
            <a:r>
              <a:rPr lang="en-US" dirty="0"/>
              <a:t>The integration of an AI chatbot using the </a:t>
            </a:r>
            <a:r>
              <a:rPr lang="en-US" dirty="0" err="1"/>
              <a:t>Groq</a:t>
            </a:r>
            <a:r>
              <a:rPr lang="en-US" dirty="0"/>
              <a:t> API enhances user experience by providing instant support.</a:t>
            </a:r>
          </a:p>
          <a:p>
            <a:endParaRPr lang="en-US" dirty="0"/>
          </a:p>
          <a:p>
            <a:r>
              <a:rPr lang="en-US" dirty="0"/>
              <a:t>Overall, the project demonstrates how modern technologies like </a:t>
            </a:r>
            <a:r>
              <a:rPr lang="en-US" b="1" dirty="0"/>
              <a:t>REST APIs, JWT authentication, and full-stack architecture</a:t>
            </a:r>
            <a:r>
              <a:rPr lang="en-US" dirty="0"/>
              <a:t> can create a secure, scalable, and user-friendly healthcare solution.</a:t>
            </a:r>
          </a:p>
          <a:p>
            <a:endParaRPr lang="en-IN" dirty="0"/>
          </a:p>
        </p:txBody>
      </p:sp>
      <p:sp>
        <p:nvSpPr>
          <p:cNvPr id="6" name="AutoShape 4">
            <a:extLst>
              <a:ext uri="{FF2B5EF4-FFF2-40B4-BE49-F238E27FC236}">
                <a16:creationId xmlns:a16="http://schemas.microsoft.com/office/drawing/2014/main" id="{CB8B1533-544E-1CC5-F129-BC327FE9F9E5}"/>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38" name="Picture 14">
            <a:extLst>
              <a:ext uri="{FF2B5EF4-FFF2-40B4-BE49-F238E27FC236}">
                <a16:creationId xmlns:a16="http://schemas.microsoft.com/office/drawing/2014/main" id="{D60BE29E-FFD5-0A19-75E1-D6639FA358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8024" y="0"/>
            <a:ext cx="7572375" cy="822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7487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46250-8B28-B3D6-3C55-EECDF85CDCAB}"/>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F598379E-465B-D764-5015-0C4937A5F50B}"/>
              </a:ext>
            </a:extLst>
          </p:cNvPr>
          <p:cNvSpPr/>
          <p:nvPr/>
        </p:nvSpPr>
        <p:spPr>
          <a:xfrm>
            <a:off x="-3510" y="0"/>
            <a:ext cx="14633910" cy="8229600"/>
          </a:xfrm>
          <a:prstGeom prst="rect">
            <a:avLst/>
          </a:prstGeom>
          <a:solidFill>
            <a:srgbClr val="8CD6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000" b="1" dirty="0"/>
          </a:p>
          <a:p>
            <a:pPr algn="ctr"/>
            <a:endParaRPr lang="en-IN" sz="4000" b="1" dirty="0"/>
          </a:p>
          <a:p>
            <a:pPr algn="ctr"/>
            <a:r>
              <a:rPr lang="en-US" sz="5400" b="1" dirty="0">
                <a:solidFill>
                  <a:srgbClr val="00002E"/>
                </a:solidFill>
                <a:latin typeface="Nunito Semi Bold" pitchFamily="34" charset="0"/>
                <a:ea typeface="Nunito Semi Bold" pitchFamily="34" charset="-122"/>
                <a:cs typeface="Nunito Semi Bold" pitchFamily="34" charset="-120"/>
              </a:rPr>
              <a:t> Online Medication </a:t>
            </a:r>
          </a:p>
          <a:p>
            <a:pPr algn="ctr"/>
            <a:r>
              <a:rPr lang="en-US" sz="5400" b="1" dirty="0">
                <a:solidFill>
                  <a:srgbClr val="00002E"/>
                </a:solidFill>
                <a:latin typeface="Nunito Semi Bold" pitchFamily="34" charset="0"/>
                <a:ea typeface="Nunito Semi Bold" pitchFamily="34" charset="-122"/>
                <a:cs typeface="Nunito Semi Bold" pitchFamily="34" charset="-120"/>
              </a:rPr>
              <a:t> &amp; Prescription Tracker</a:t>
            </a:r>
            <a:endParaRPr lang="en-IN" sz="5400" b="1" dirty="0"/>
          </a:p>
          <a:p>
            <a:pPr algn="ctr"/>
            <a:endParaRPr lang="en-IN" sz="4000" b="1" dirty="0"/>
          </a:p>
        </p:txBody>
      </p:sp>
      <p:sp>
        <p:nvSpPr>
          <p:cNvPr id="2" name="Text 0">
            <a:extLst>
              <a:ext uri="{FF2B5EF4-FFF2-40B4-BE49-F238E27FC236}">
                <a16:creationId xmlns:a16="http://schemas.microsoft.com/office/drawing/2014/main" id="{E0F4B50F-2F91-84D5-BAA4-85BCC898F87A}"/>
              </a:ext>
            </a:extLst>
          </p:cNvPr>
          <p:cNvSpPr/>
          <p:nvPr/>
        </p:nvSpPr>
        <p:spPr>
          <a:xfrm>
            <a:off x="4871832" y="1427381"/>
            <a:ext cx="6270189" cy="503456"/>
          </a:xfrm>
          <a:prstGeom prst="rect">
            <a:avLst/>
          </a:prstGeom>
          <a:noFill/>
          <a:ln/>
        </p:spPr>
        <p:txBody>
          <a:bodyPr wrap="none" lIns="0" tIns="0" rIns="0" bIns="0" rtlCol="0" anchor="t"/>
          <a:lstStyle/>
          <a:p>
            <a:pPr marL="0" indent="0" algn="l">
              <a:lnSpc>
                <a:spcPts val="3250"/>
              </a:lnSpc>
              <a:buNone/>
            </a:pPr>
            <a:r>
              <a:rPr lang="en-US" sz="4000" dirty="0">
                <a:solidFill>
                  <a:srgbClr val="00002E"/>
                </a:solidFill>
                <a:latin typeface="Nunito Semi Bold" pitchFamily="34" charset="0"/>
                <a:ea typeface="Nunito Semi Bold" pitchFamily="34" charset="-122"/>
                <a:cs typeface="Nunito Semi Bold" pitchFamily="34" charset="-120"/>
              </a:rPr>
              <a:t>APPLICATION DEMO…</a:t>
            </a:r>
            <a:endParaRPr lang="en-US" sz="4000" dirty="0"/>
          </a:p>
        </p:txBody>
      </p:sp>
    </p:spTree>
    <p:extLst>
      <p:ext uri="{BB962C8B-B14F-4D97-AF65-F5344CB8AC3E}">
        <p14:creationId xmlns:p14="http://schemas.microsoft.com/office/powerpoint/2010/main" val="32471211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75729-D375-E0D3-0C30-C4BF3472AC39}"/>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D35FCFBA-DACF-F715-652F-47594505AED6}"/>
              </a:ext>
            </a:extLst>
          </p:cNvPr>
          <p:cNvSpPr/>
          <p:nvPr/>
        </p:nvSpPr>
        <p:spPr>
          <a:xfrm>
            <a:off x="-3510" y="0"/>
            <a:ext cx="14633910" cy="8229600"/>
          </a:xfrm>
          <a:prstGeom prst="rect">
            <a:avLst/>
          </a:prstGeom>
          <a:solidFill>
            <a:srgbClr val="8CD6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5400" dirty="0">
                <a:solidFill>
                  <a:schemeClr val="tx1"/>
                </a:solidFill>
              </a:rPr>
              <a:t>Q &amp; A</a:t>
            </a:r>
          </a:p>
        </p:txBody>
      </p:sp>
      <p:sp>
        <p:nvSpPr>
          <p:cNvPr id="2" name="Text 0">
            <a:extLst>
              <a:ext uri="{FF2B5EF4-FFF2-40B4-BE49-F238E27FC236}">
                <a16:creationId xmlns:a16="http://schemas.microsoft.com/office/drawing/2014/main" id="{CA0D06E1-5C84-0D9A-A390-49D380323017}"/>
              </a:ext>
            </a:extLst>
          </p:cNvPr>
          <p:cNvSpPr/>
          <p:nvPr/>
        </p:nvSpPr>
        <p:spPr>
          <a:xfrm>
            <a:off x="6509904" y="3863072"/>
            <a:ext cx="1421964" cy="503456"/>
          </a:xfrm>
          <a:prstGeom prst="rect">
            <a:avLst/>
          </a:prstGeom>
          <a:noFill/>
          <a:ln/>
        </p:spPr>
        <p:txBody>
          <a:bodyPr wrap="none" lIns="0" tIns="0" rIns="0" bIns="0" rtlCol="0" anchor="t"/>
          <a:lstStyle/>
          <a:p>
            <a:pPr marL="0" indent="0" algn="l">
              <a:lnSpc>
                <a:spcPts val="3250"/>
              </a:lnSpc>
              <a:buNone/>
            </a:pPr>
            <a:endParaRPr lang="en-US" sz="6000" b="1" dirty="0"/>
          </a:p>
        </p:txBody>
      </p:sp>
    </p:spTree>
    <p:extLst>
      <p:ext uri="{BB962C8B-B14F-4D97-AF65-F5344CB8AC3E}">
        <p14:creationId xmlns:p14="http://schemas.microsoft.com/office/powerpoint/2010/main" val="3142387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6C7A6-2F43-B61F-A362-23E65D705242}"/>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AD19CC46-2D78-CF95-1503-8B75DFFF0763}"/>
              </a:ext>
            </a:extLst>
          </p:cNvPr>
          <p:cNvSpPr/>
          <p:nvPr/>
        </p:nvSpPr>
        <p:spPr>
          <a:xfrm>
            <a:off x="6322" y="0"/>
            <a:ext cx="14633910" cy="8229600"/>
          </a:xfrm>
          <a:prstGeom prst="rect">
            <a:avLst/>
          </a:prstGeom>
          <a:solidFill>
            <a:srgbClr val="8CD6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3250"/>
              </a:lnSpc>
            </a:pPr>
            <a:r>
              <a:rPr lang="en-US" b="1" dirty="0">
                <a:solidFill>
                  <a:srgbClr val="00002E"/>
                </a:solidFill>
                <a:latin typeface="Nunito Semi Bold" pitchFamily="34" charset="0"/>
              </a:rPr>
              <a:t>                 </a:t>
            </a:r>
          </a:p>
          <a:p>
            <a:pPr>
              <a:lnSpc>
                <a:spcPts val="3250"/>
              </a:lnSpc>
            </a:pPr>
            <a:endParaRPr lang="en-US" b="1" dirty="0">
              <a:solidFill>
                <a:srgbClr val="00002E"/>
              </a:solidFill>
              <a:latin typeface="Nunito Semi Bold" pitchFamily="34" charset="0"/>
            </a:endParaRPr>
          </a:p>
          <a:p>
            <a:pPr>
              <a:lnSpc>
                <a:spcPts val="3250"/>
              </a:lnSpc>
            </a:pPr>
            <a:r>
              <a:rPr lang="en-US" b="1" dirty="0">
                <a:solidFill>
                  <a:srgbClr val="00002E"/>
                </a:solidFill>
                <a:latin typeface="Nunito Semi Bold" pitchFamily="34" charset="0"/>
              </a:rPr>
              <a:t>                                                                                        </a:t>
            </a:r>
          </a:p>
          <a:p>
            <a:pPr>
              <a:lnSpc>
                <a:spcPts val="3250"/>
              </a:lnSpc>
            </a:pPr>
            <a:r>
              <a:rPr lang="en-US" sz="3600" b="1" dirty="0">
                <a:solidFill>
                  <a:srgbClr val="00002E"/>
                </a:solidFill>
                <a:latin typeface="Nunito Semi Bold" pitchFamily="34" charset="0"/>
              </a:rPr>
              <a:t>                                                </a:t>
            </a:r>
          </a:p>
          <a:p>
            <a:pPr>
              <a:lnSpc>
                <a:spcPts val="3250"/>
              </a:lnSpc>
            </a:pPr>
            <a:r>
              <a:rPr lang="en-US" sz="3600" b="1" dirty="0">
                <a:solidFill>
                  <a:srgbClr val="00002E"/>
                </a:solidFill>
                <a:latin typeface="Nunito Semi Bold" pitchFamily="34" charset="0"/>
              </a:rPr>
              <a:t>                     </a:t>
            </a:r>
          </a:p>
          <a:p>
            <a:pPr>
              <a:lnSpc>
                <a:spcPts val="3250"/>
              </a:lnSpc>
            </a:pPr>
            <a:r>
              <a:rPr lang="en-US" sz="3600" b="1" dirty="0">
                <a:solidFill>
                  <a:srgbClr val="00002E"/>
                </a:solidFill>
                <a:latin typeface="Nunito Semi Bold" pitchFamily="34" charset="0"/>
              </a:rPr>
              <a:t>                            </a:t>
            </a:r>
          </a:p>
          <a:p>
            <a:pPr>
              <a:lnSpc>
                <a:spcPts val="3250"/>
              </a:lnSpc>
            </a:pPr>
            <a:endParaRPr lang="en-US" sz="3600" b="1" dirty="0">
              <a:solidFill>
                <a:srgbClr val="00002E"/>
              </a:solidFill>
              <a:latin typeface="Nunito Semi Bold" pitchFamily="34" charset="0"/>
            </a:endParaRPr>
          </a:p>
          <a:p>
            <a:pPr>
              <a:lnSpc>
                <a:spcPts val="3250"/>
              </a:lnSpc>
            </a:pPr>
            <a:endParaRPr lang="en-US" sz="3600" b="1" dirty="0">
              <a:solidFill>
                <a:srgbClr val="00002E"/>
              </a:solidFill>
              <a:latin typeface="Nunito Semi Bold" pitchFamily="34" charset="0"/>
            </a:endParaRPr>
          </a:p>
          <a:p>
            <a:pPr>
              <a:lnSpc>
                <a:spcPts val="3250"/>
              </a:lnSpc>
            </a:pPr>
            <a:r>
              <a:rPr lang="en-US" sz="3600" b="1" dirty="0">
                <a:solidFill>
                  <a:srgbClr val="00002E"/>
                </a:solidFill>
                <a:latin typeface="Nunito Semi Bold" pitchFamily="34" charset="0"/>
              </a:rPr>
              <a:t>       </a:t>
            </a:r>
          </a:p>
          <a:p>
            <a:pPr>
              <a:lnSpc>
                <a:spcPts val="3250"/>
              </a:lnSpc>
            </a:pPr>
            <a:r>
              <a:rPr lang="en-US" sz="3600" b="1" dirty="0">
                <a:solidFill>
                  <a:srgbClr val="00002E"/>
                </a:solidFill>
                <a:latin typeface="Nunito Semi Bold" pitchFamily="34" charset="0"/>
              </a:rPr>
              <a:t>                           </a:t>
            </a:r>
          </a:p>
          <a:p>
            <a:pPr>
              <a:lnSpc>
                <a:spcPts val="3250"/>
              </a:lnSpc>
            </a:pPr>
            <a:r>
              <a:rPr lang="en-US" sz="3600" b="1" dirty="0">
                <a:solidFill>
                  <a:srgbClr val="00002E"/>
                </a:solidFill>
                <a:latin typeface="Nunito Semi Bold" pitchFamily="34" charset="0"/>
              </a:rPr>
              <a:t>                              </a:t>
            </a:r>
            <a:r>
              <a:rPr lang="en-US" sz="3600" dirty="0">
                <a:solidFill>
                  <a:srgbClr val="00002E"/>
                </a:solidFill>
                <a:latin typeface="Nunito Semi Bold" pitchFamily="34" charset="0"/>
              </a:rPr>
              <a:t>Infosys Springboard And Mentor</a:t>
            </a:r>
          </a:p>
          <a:p>
            <a:pPr>
              <a:lnSpc>
                <a:spcPts val="3250"/>
              </a:lnSpc>
            </a:pPr>
            <a:endParaRPr lang="en-US" sz="3600" dirty="0">
              <a:solidFill>
                <a:srgbClr val="00002E"/>
              </a:solidFill>
              <a:latin typeface="Nunito Semi Bold" pitchFamily="34" charset="0"/>
            </a:endParaRPr>
          </a:p>
          <a:p>
            <a:pPr>
              <a:lnSpc>
                <a:spcPts val="3250"/>
              </a:lnSpc>
            </a:pPr>
            <a:r>
              <a:rPr lang="en-US" sz="3600" dirty="0">
                <a:solidFill>
                  <a:srgbClr val="00002E"/>
                </a:solidFill>
                <a:latin typeface="Nunito Semi Bold" pitchFamily="34" charset="0"/>
              </a:rPr>
              <a:t>   </a:t>
            </a:r>
          </a:p>
          <a:p>
            <a:pPr>
              <a:lnSpc>
                <a:spcPts val="3250"/>
              </a:lnSpc>
            </a:pPr>
            <a:r>
              <a:rPr lang="en-US" sz="2000" dirty="0">
                <a:solidFill>
                  <a:srgbClr val="00002E"/>
                </a:solidFill>
                <a:latin typeface="Nunito Semi Bold" pitchFamily="34" charset="0"/>
              </a:rPr>
              <a:t>                                                           </a:t>
            </a:r>
            <a:r>
              <a:rPr lang="en-US" sz="1600" dirty="0">
                <a:solidFill>
                  <a:srgbClr val="00002E"/>
                </a:solidFill>
                <a:latin typeface="Nunito Semi Bold" pitchFamily="34" charset="0"/>
              </a:rPr>
              <a:t>“Thanks you for your guidance, support , and valuable insights</a:t>
            </a:r>
          </a:p>
          <a:p>
            <a:pPr>
              <a:lnSpc>
                <a:spcPts val="3250"/>
              </a:lnSpc>
            </a:pPr>
            <a:r>
              <a:rPr lang="en-US" sz="1600" dirty="0">
                <a:solidFill>
                  <a:srgbClr val="00002E"/>
                </a:solidFill>
                <a:latin typeface="Nunito Semi Bold" pitchFamily="34" charset="0"/>
              </a:rPr>
              <a:t>                                                                                   throughout Infosys Springboard internship”</a:t>
            </a:r>
          </a:p>
          <a:p>
            <a:pPr>
              <a:lnSpc>
                <a:spcPts val="3250"/>
              </a:lnSpc>
            </a:pPr>
            <a:endParaRPr lang="en-US" b="1" dirty="0">
              <a:solidFill>
                <a:srgbClr val="00002E"/>
              </a:solidFill>
              <a:latin typeface="Nunito Semi Bold" pitchFamily="34" charset="0"/>
            </a:endParaRPr>
          </a:p>
          <a:p>
            <a:pPr>
              <a:lnSpc>
                <a:spcPts val="3250"/>
              </a:lnSpc>
            </a:pPr>
            <a:endParaRPr lang="en-US" b="1" dirty="0"/>
          </a:p>
        </p:txBody>
      </p:sp>
      <p:sp>
        <p:nvSpPr>
          <p:cNvPr id="2" name="Text 0">
            <a:extLst>
              <a:ext uri="{FF2B5EF4-FFF2-40B4-BE49-F238E27FC236}">
                <a16:creationId xmlns:a16="http://schemas.microsoft.com/office/drawing/2014/main" id="{F29962F9-CB0D-4325-6666-693008233B16}"/>
              </a:ext>
            </a:extLst>
          </p:cNvPr>
          <p:cNvSpPr/>
          <p:nvPr/>
        </p:nvSpPr>
        <p:spPr>
          <a:xfrm>
            <a:off x="4268147" y="824905"/>
            <a:ext cx="5741091" cy="964567"/>
          </a:xfrm>
          <a:prstGeom prst="rect">
            <a:avLst/>
          </a:prstGeom>
          <a:noFill/>
          <a:ln/>
        </p:spPr>
        <p:txBody>
          <a:bodyPr wrap="none" lIns="0" tIns="0" rIns="0" bIns="0" rtlCol="0" anchor="t"/>
          <a:lstStyle/>
          <a:p>
            <a:pPr marL="0" indent="0" algn="l">
              <a:lnSpc>
                <a:spcPts val="3250"/>
              </a:lnSpc>
              <a:buNone/>
            </a:pPr>
            <a:r>
              <a:rPr lang="en-US" sz="4400" b="1" dirty="0">
                <a:solidFill>
                  <a:srgbClr val="00002E"/>
                </a:solidFill>
                <a:latin typeface="Nunito Semi Bold" pitchFamily="34" charset="0"/>
              </a:rPr>
              <a:t>A Special Thanks To</a:t>
            </a:r>
          </a:p>
          <a:p>
            <a:pPr marL="0" indent="0" algn="l">
              <a:lnSpc>
                <a:spcPts val="3250"/>
              </a:lnSpc>
              <a:buNone/>
            </a:pPr>
            <a:r>
              <a:rPr lang="en-US" sz="4400" b="1" dirty="0">
                <a:solidFill>
                  <a:srgbClr val="00002E"/>
                </a:solidFill>
                <a:latin typeface="Nunito Semi Bold" pitchFamily="34" charset="0"/>
              </a:rPr>
              <a:t> </a:t>
            </a:r>
            <a:endParaRPr lang="en-US" sz="4400" b="1" dirty="0"/>
          </a:p>
        </p:txBody>
      </p:sp>
      <p:pic>
        <p:nvPicPr>
          <p:cNvPr id="3074" name="Picture 2">
            <a:extLst>
              <a:ext uri="{FF2B5EF4-FFF2-40B4-BE49-F238E27FC236}">
                <a16:creationId xmlns:a16="http://schemas.microsoft.com/office/drawing/2014/main" id="{0362B340-109D-1F80-FECC-3BA896C581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2867" y="1720646"/>
            <a:ext cx="2610925" cy="2754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07637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1760</TotalTime>
  <Words>1455</Words>
  <Application>Microsoft Office PowerPoint</Application>
  <PresentationFormat>Custom</PresentationFormat>
  <Paragraphs>312</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PT Sans</vt:lpstr>
      <vt:lpstr>Nunito Semi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ashu0</dc:creator>
  <cp:lastModifiedBy>ashu010105@outlook.com</cp:lastModifiedBy>
  <cp:revision>18</cp:revision>
  <dcterms:created xsi:type="dcterms:W3CDTF">2026-03-11T11:38:54Z</dcterms:created>
  <dcterms:modified xsi:type="dcterms:W3CDTF">2026-03-31T08:07:08Z</dcterms:modified>
</cp:coreProperties>
</file>